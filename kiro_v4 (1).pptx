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71A30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0"/>
            <a:ext cx="54864" cy="51435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7178040" y="36576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589520" y="36576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001000" y="36576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412480" y="36576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178040" y="86868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589520" y="86868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001000" y="86868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412480" y="86868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178040" y="137160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589520" y="137160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001000" y="137160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0" y="137160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178040" y="187452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589520" y="187452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001000" y="187452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412480" y="187452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178040" y="237744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589520" y="237744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001000" y="237744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412480" y="237744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65760" y="50292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502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Kiro 機能調査レポート Vol.2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1005840"/>
            <a:ext cx="6217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/ Skills / Spec</a:t>
            </a:r>
            <a:endParaRPr lang="en-US" sz="4600" dirty="0"/>
          </a:p>
        </p:txBody>
      </p:sp>
      <p:sp>
        <p:nvSpPr>
          <p:cNvPr id="28" name="Text 26"/>
          <p:cNvSpPr/>
          <p:nvPr/>
        </p:nvSpPr>
        <p:spPr>
          <a:xfrm>
            <a:off x="365760" y="196596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A8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3機能の詳細と組み合わせ活用ガイド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365760" y="2651760"/>
            <a:ext cx="41148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278892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仕様駆動開発における WorkSpace 設計とディレクトリ構成を含む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45262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2026年3月  |  CMS Team  |  Kiro PoC 調査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3つの機能 — チーム運用における役割分担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859536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640080"/>
            <a:ext cx="54864" cy="3291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008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インプット：  パラメーターシート  ＋  基本設計書フォーマット（テンプレート）  ＋  案件固有の要件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577840" y="67665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▶▶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89320" y="658368"/>
            <a:ext cx="2834640" cy="2926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6016752" y="65836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基本設計書（Markdown）  ＋  Terraformコード一式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097280"/>
            <a:ext cx="2788920" cy="3703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097280"/>
            <a:ext cx="278892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1097280"/>
            <a:ext cx="2788920" cy="438912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143000"/>
            <a:ext cx="320040" cy="3200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49808" y="11430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49808" y="1335024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チームの「常識」を記憶させる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65760" y="1600200"/>
            <a:ext cx="1005840" cy="18288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17" name="Text 14"/>
          <p:cNvSpPr/>
          <p:nvPr/>
        </p:nvSpPr>
        <p:spPr>
          <a:xfrm>
            <a:off x="365760" y="16002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何を入れる？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84048" y="1865376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6"/>
          <p:cNvSpPr/>
          <p:nvPr/>
        </p:nvSpPr>
        <p:spPr>
          <a:xfrm>
            <a:off x="530352" y="18288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コード規約・命名ルール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84048" y="2249424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8"/>
          <p:cNvSpPr/>
          <p:nvPr/>
        </p:nvSpPr>
        <p:spPr>
          <a:xfrm>
            <a:off x="530352" y="22128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指定ディレクトリ構成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84048" y="2633472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0"/>
          <p:cNvSpPr/>
          <p:nvPr/>
        </p:nvSpPr>
        <p:spPr>
          <a:xfrm>
            <a:off x="530352" y="259689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社内環境の制限・制約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84048" y="3017520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2"/>
          <p:cNvSpPr/>
          <p:nvPr/>
        </p:nvSpPr>
        <p:spPr>
          <a:xfrm>
            <a:off x="530352" y="298094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共通モジュールrepoの利用ルール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（利用可能サービスはmodule参照）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384048" y="3401568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4"/>
          <p:cNvSpPr/>
          <p:nvPr/>
        </p:nvSpPr>
        <p:spPr>
          <a:xfrm>
            <a:off x="530352" y="33649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セキュリティ・タグ付け規約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347472" y="3685032"/>
            <a:ext cx="2633472" cy="1645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9" name="Text 26"/>
          <p:cNvSpPr/>
          <p:nvPr/>
        </p:nvSpPr>
        <p:spPr>
          <a:xfrm>
            <a:off x="365760" y="368503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どの案件でも同じ規約・構成でコードが生成される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3218688" y="1097280"/>
            <a:ext cx="2788920" cy="3703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3218688" y="1097280"/>
            <a:ext cx="278892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2" name="Shape 29"/>
          <p:cNvSpPr/>
          <p:nvPr/>
        </p:nvSpPr>
        <p:spPr>
          <a:xfrm>
            <a:off x="3218688" y="1097280"/>
            <a:ext cx="2788920" cy="438912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416" y="1143000"/>
            <a:ext cx="320040" cy="32004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3694176" y="11430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3694176" y="1335024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再利用可能な専門知識パッケージ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3310128" y="1600200"/>
            <a:ext cx="1005840" cy="18288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/>
        </p:spPr>
      </p:sp>
      <p:sp>
        <p:nvSpPr>
          <p:cNvPr id="37" name="Text 33"/>
          <p:cNvSpPr/>
          <p:nvPr/>
        </p:nvSpPr>
        <p:spPr>
          <a:xfrm>
            <a:off x="3310128" y="16002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何を入れる？</a:t>
            </a:r>
            <a:endParaRPr lang="en-US" sz="850" dirty="0"/>
          </a:p>
        </p:txBody>
      </p:sp>
      <p:sp>
        <p:nvSpPr>
          <p:cNvPr id="38" name="Shape 34"/>
          <p:cNvSpPr/>
          <p:nvPr/>
        </p:nvSpPr>
        <p:spPr>
          <a:xfrm>
            <a:off x="3328416" y="1865376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9" name="Text 35"/>
          <p:cNvSpPr/>
          <p:nvPr/>
        </p:nvSpPr>
        <p:spPr>
          <a:xfrm>
            <a:off x="3474720" y="18288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設計書Skill：フォーマットテンプレート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Markdown設計書を自動生成</a:t>
            </a:r>
            <a:endParaRPr lang="en-US" sz="950" dirty="0"/>
          </a:p>
        </p:txBody>
      </p:sp>
      <p:sp>
        <p:nvSpPr>
          <p:cNvPr id="40" name="Shape 36"/>
          <p:cNvSpPr/>
          <p:nvPr/>
        </p:nvSpPr>
        <p:spPr>
          <a:xfrm>
            <a:off x="3328416" y="2249424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1" name="Text 37"/>
          <p:cNvSpPr/>
          <p:nvPr/>
        </p:nvSpPr>
        <p:spPr>
          <a:xfrm>
            <a:off x="3474720" y="22128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terraform-patterns：モジュール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参照パターン・記述ルール</a:t>
            </a:r>
            <a:endParaRPr lang="en-US" sz="950" dirty="0"/>
          </a:p>
        </p:txBody>
      </p:sp>
      <p:sp>
        <p:nvSpPr>
          <p:cNvPr id="42" name="Shape 38"/>
          <p:cNvSpPr/>
          <p:nvPr/>
        </p:nvSpPr>
        <p:spPr>
          <a:xfrm>
            <a:off x="3328416" y="2633472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3" name="Text 39"/>
          <p:cNvSpPr/>
          <p:nvPr/>
        </p:nvSpPr>
        <p:spPr>
          <a:xfrm>
            <a:off x="3474720" y="259689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code-review：コードレビュー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チェックリスト</a:t>
            </a:r>
            <a:endParaRPr lang="en-US" sz="950" dirty="0"/>
          </a:p>
        </p:txBody>
      </p:sp>
      <p:sp>
        <p:nvSpPr>
          <p:cNvPr id="44" name="Shape 40"/>
          <p:cNvSpPr/>
          <p:nvPr/>
        </p:nvSpPr>
        <p:spPr>
          <a:xfrm>
            <a:off x="3328416" y="3017520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5" name="Text 41"/>
          <p:cNvSpPr/>
          <p:nvPr/>
        </p:nvSpPr>
        <p:spPr>
          <a:xfrm>
            <a:off x="3474720" y="298094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domain-knowledge：社内システム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仕様・ドメイン固有知識</a:t>
            </a:r>
            <a:endParaRPr lang="en-US" sz="950" dirty="0"/>
          </a:p>
        </p:txBody>
      </p:sp>
      <p:sp>
        <p:nvSpPr>
          <p:cNvPr id="46" name="Shape 42"/>
          <p:cNvSpPr/>
          <p:nvPr/>
        </p:nvSpPr>
        <p:spPr>
          <a:xfrm>
            <a:off x="3291840" y="3685032"/>
            <a:ext cx="2633472" cy="1645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7" name="Text 43"/>
          <p:cNvSpPr/>
          <p:nvPr/>
        </p:nvSpPr>
        <p:spPr>
          <a:xfrm>
            <a:off x="3310128" y="368503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「設計書作って」「コードレビューして」で自動起動</a:t>
            </a:r>
            <a:endParaRPr lang="en-US" sz="850" dirty="0"/>
          </a:p>
        </p:txBody>
      </p:sp>
      <p:sp>
        <p:nvSpPr>
          <p:cNvPr id="48" name="Shape 44"/>
          <p:cNvSpPr/>
          <p:nvPr/>
        </p:nvSpPr>
        <p:spPr>
          <a:xfrm>
            <a:off x="6163056" y="1097280"/>
            <a:ext cx="2788920" cy="3703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49" name="Shape 45"/>
          <p:cNvSpPr/>
          <p:nvPr/>
        </p:nvSpPr>
        <p:spPr>
          <a:xfrm>
            <a:off x="6163056" y="1097280"/>
            <a:ext cx="27889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0" name="Shape 46"/>
          <p:cNvSpPr/>
          <p:nvPr/>
        </p:nvSpPr>
        <p:spPr>
          <a:xfrm>
            <a:off x="6163056" y="1097280"/>
            <a:ext cx="2788920" cy="438912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5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143000"/>
            <a:ext cx="320040" cy="320040"/>
          </a:xfrm>
          <a:prstGeom prst="rect">
            <a:avLst/>
          </a:prstGeom>
        </p:spPr>
      </p:pic>
      <p:sp>
        <p:nvSpPr>
          <p:cNvPr id="52" name="Text 47"/>
          <p:cNvSpPr/>
          <p:nvPr/>
        </p:nvSpPr>
        <p:spPr>
          <a:xfrm>
            <a:off x="6638544" y="11430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</a:t>
            </a:r>
            <a:endParaRPr lang="en-US" sz="1600" dirty="0"/>
          </a:p>
        </p:txBody>
      </p:sp>
      <p:sp>
        <p:nvSpPr>
          <p:cNvPr id="53" name="Text 48"/>
          <p:cNvSpPr/>
          <p:nvPr/>
        </p:nvSpPr>
        <p:spPr>
          <a:xfrm>
            <a:off x="6638544" y="1335024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案件別の要件・設計・タスク</a:t>
            </a:r>
            <a:endParaRPr lang="en-US" sz="900" dirty="0"/>
          </a:p>
        </p:txBody>
      </p:sp>
      <p:sp>
        <p:nvSpPr>
          <p:cNvPr id="54" name="Shape 49"/>
          <p:cNvSpPr/>
          <p:nvPr/>
        </p:nvSpPr>
        <p:spPr>
          <a:xfrm>
            <a:off x="6254496" y="1600200"/>
            <a:ext cx="1005840" cy="18288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5" name="Text 50"/>
          <p:cNvSpPr/>
          <p:nvPr/>
        </p:nvSpPr>
        <p:spPr>
          <a:xfrm>
            <a:off x="6254496" y="16002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何を入れる？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6272784" y="1865376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7" name="Text 52"/>
          <p:cNvSpPr/>
          <p:nvPr/>
        </p:nvSpPr>
        <p:spPr>
          <a:xfrm>
            <a:off x="6419088" y="18288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案件固有の要件（モジュールに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ない部分・カスタム設定）</a:t>
            </a:r>
            <a:endParaRPr lang="en-US" sz="950" dirty="0"/>
          </a:p>
        </p:txBody>
      </p:sp>
      <p:sp>
        <p:nvSpPr>
          <p:cNvPr id="58" name="Shape 53"/>
          <p:cNvSpPr/>
          <p:nvPr/>
        </p:nvSpPr>
        <p:spPr>
          <a:xfrm>
            <a:off x="6272784" y="2249424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9" name="Text 54"/>
          <p:cNvSpPr/>
          <p:nvPr/>
        </p:nvSpPr>
        <p:spPr>
          <a:xfrm>
            <a:off x="6419088" y="22128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パラメーターシートの内容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（リソース設定値・環境差分）</a:t>
            </a:r>
            <a:endParaRPr lang="en-US" sz="950" dirty="0"/>
          </a:p>
        </p:txBody>
      </p:sp>
      <p:sp>
        <p:nvSpPr>
          <p:cNvPr id="60" name="Shape 55"/>
          <p:cNvSpPr/>
          <p:nvPr/>
        </p:nvSpPr>
        <p:spPr>
          <a:xfrm>
            <a:off x="6272784" y="2633472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1" name="Text 56"/>
          <p:cNvSpPr/>
          <p:nvPr/>
        </p:nvSpPr>
        <p:spPr>
          <a:xfrm>
            <a:off x="6419088" y="259689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利用するモジュール一覧と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案件での設定値</a:t>
            </a:r>
            <a:endParaRPr lang="en-US" sz="950" dirty="0"/>
          </a:p>
        </p:txBody>
      </p:sp>
      <p:sp>
        <p:nvSpPr>
          <p:cNvPr id="62" name="Shape 57"/>
          <p:cNvSpPr/>
          <p:nvPr/>
        </p:nvSpPr>
        <p:spPr>
          <a:xfrm>
            <a:off x="6272784" y="3017520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3" name="Text 58"/>
          <p:cNvSpPr/>
          <p:nvPr/>
        </p:nvSpPr>
        <p:spPr>
          <a:xfrm>
            <a:off x="6419088" y="298094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受け入れ基準・非機能要件</a:t>
            </a:r>
            <a:endParaRPr lang="en-US" sz="950" dirty="0"/>
          </a:p>
        </p:txBody>
      </p:sp>
      <p:sp>
        <p:nvSpPr>
          <p:cNvPr id="64" name="Shape 59"/>
          <p:cNvSpPr/>
          <p:nvPr/>
        </p:nvSpPr>
        <p:spPr>
          <a:xfrm>
            <a:off x="6236208" y="3685032"/>
            <a:ext cx="2633472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5" name="Text 60"/>
          <p:cNvSpPr/>
          <p:nvPr/>
        </p:nvSpPr>
        <p:spPr>
          <a:xfrm>
            <a:off x="6254496" y="368503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モジュールを参照しながら案件固有のコードを生成</a:t>
            </a:r>
            <a:endParaRPr lang="en-US" sz="850" dirty="0"/>
          </a:p>
        </p:txBody>
      </p:sp>
      <p:sp>
        <p:nvSpPr>
          <p:cNvPr id="66" name="Shape 61"/>
          <p:cNvSpPr/>
          <p:nvPr/>
        </p:nvSpPr>
        <p:spPr>
          <a:xfrm>
            <a:off x="274320" y="4773168"/>
            <a:ext cx="859536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320040" y="4773168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Steering（常識）が土台 → Skills（専門知識）が設計書・コードを生成 → Spec（案件要件）で案件固有部分を補完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とは ① — 仕組み（インクルージョンモード）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8595360" cy="402336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594360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プロジェクトの規約・方針をMarkdownに書くだけ。毎回説明しなくてもKiroが常に従う。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69848"/>
            <a:ext cx="2121408" cy="3913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69848"/>
            <a:ext cx="2121408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069848"/>
            <a:ext cx="2121408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078992"/>
            <a:ext cx="20299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always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0040" y="1307592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常時読み込み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572768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全チャットに自動で含まれる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技術スタック・規約定義に最適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7472" y="2029968"/>
            <a:ext cx="1975104" cy="2834640"/>
          </a:xfrm>
          <a:prstGeom prst="rect">
            <a:avLst/>
          </a:prstGeom>
          <a:solidFill>
            <a:srgbClr val="F1F5F9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2029968"/>
            <a:ext cx="1975104" cy="2011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029968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tech.md（front matter不要）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65760" y="2249424"/>
            <a:ext cx="1938528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技術スタック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IaC: Terraform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Cloud: AWS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言語: Python 3.11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命名規則: snake_case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共通ルール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tfstate: S3+DynamoDBバックエンド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モジュール: shared-modules/を必ず参照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ディレクトリ構成: /指定の構成に従う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496312" y="1069848"/>
            <a:ext cx="2121408" cy="3913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96312" y="1069848"/>
            <a:ext cx="2121408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8" name="Shape 16"/>
          <p:cNvSpPr/>
          <p:nvPr/>
        </p:nvSpPr>
        <p:spPr>
          <a:xfrm>
            <a:off x="2496312" y="1069848"/>
            <a:ext cx="2121408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2542032" y="1078992"/>
            <a:ext cx="20299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fileMatch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542032" y="1307592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ファイル一致時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87752" y="1572768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*.tf 編集時だけ自動読み込み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コンテキスト節約に有効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69464" y="2029968"/>
            <a:ext cx="1975104" cy="2834640"/>
          </a:xfrm>
          <a:prstGeom prst="rect">
            <a:avLst/>
          </a:prstGeom>
          <a:solidFill>
            <a:srgbClr val="F1F5F9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9464" y="2029968"/>
            <a:ext cx="1975104" cy="20116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2587752" y="2029968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naming.md（*.tf 一致時）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587752" y="2249424"/>
            <a:ext cx="1938528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inclusion: fileMatch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fileMatch: "**/*.tf"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Terraform命名規則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リソース: snake_case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例) aws_instance.web_server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モジュール参照: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source = "../shared-modules/alb"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必須タグ: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Env / Owner / Project / CostCenter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718304" y="1069848"/>
            <a:ext cx="2121408" cy="3913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18304" y="1069848"/>
            <a:ext cx="2121408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8" name="Shape 26"/>
          <p:cNvSpPr/>
          <p:nvPr/>
        </p:nvSpPr>
        <p:spPr>
          <a:xfrm>
            <a:off x="4718304" y="1069848"/>
            <a:ext cx="2121408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9" name="Text 27"/>
          <p:cNvSpPr/>
          <p:nvPr/>
        </p:nvSpPr>
        <p:spPr>
          <a:xfrm>
            <a:off x="4764024" y="1078992"/>
            <a:ext cx="20299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764024" y="1307592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AI自動判断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09744" y="1572768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リクエスト内容からKiroが判断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セキュリティ設計質問で自動起動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91456" y="2029968"/>
            <a:ext cx="1975104" cy="2834640"/>
          </a:xfrm>
          <a:prstGeom prst="rect">
            <a:avLst/>
          </a:prstGeom>
          <a:solidFill>
            <a:srgbClr val="F1F5F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91456" y="2029968"/>
            <a:ext cx="1975104" cy="2011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4" name="Text 32"/>
          <p:cNvSpPr/>
          <p:nvPr/>
        </p:nvSpPr>
        <p:spPr>
          <a:xfrm>
            <a:off x="4809744" y="2029968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security.md（自動判断）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809744" y="2249424"/>
            <a:ext cx="1938528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inclusion: auto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セキュリティ・IAM・KMS・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VPC・SG設計時に使用する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セキュリティ方針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IAM: 最小権限の原則を徹底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KMS: カスタマーマネージドキー必須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SG: デフォルトDeny・明示的Allow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VPC: インターネットGW禁止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エンドポイント経由のみ許可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940296" y="1069848"/>
            <a:ext cx="2121408" cy="3913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940296" y="1069848"/>
            <a:ext cx="2121408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8" name="Shape 36"/>
          <p:cNvSpPr/>
          <p:nvPr/>
        </p:nvSpPr>
        <p:spPr>
          <a:xfrm>
            <a:off x="6940296" y="1069848"/>
            <a:ext cx="2121408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6986016" y="1078992"/>
            <a:ext cx="20299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manual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986016" y="1307592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手動呼び出し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031736" y="1572768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チャットで #ファイル名 を入力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大量ドキュメントを必要時だけ参照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013448" y="2029968"/>
            <a:ext cx="1975104" cy="2834640"/>
          </a:xfrm>
          <a:prstGeom prst="rect">
            <a:avLst/>
          </a:prstGeom>
          <a:solidFill>
            <a:srgbClr val="F1F5F9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013448" y="2029968"/>
            <a:ext cx="1975104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4" name="Text 42"/>
          <p:cNvSpPr/>
          <p:nvPr/>
        </p:nvSpPr>
        <p:spPr>
          <a:xfrm>
            <a:off x="7031736" y="2029968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#troubleshoot と入力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7031736" y="2249424"/>
            <a:ext cx="1938528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inclusion: manual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troubleshoot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TF/ALB/SG トラブル時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TF apply失敗時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terraform.tfstateを確認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IAMロール権限を確認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リソース競合・依存関係確認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ALB疎通不可時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SGのinboundルール確認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ヘルスチェックパス確認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ターゲットグループ状態確認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74320" y="4773168"/>
            <a:ext cx="859536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4773168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保存先：.kiro/steering/（ワークスペース） ／ ~/.kiro/steering/（グローバル）  ／  競合時はワークスペース優先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とは ② — ディレクトリ構成と各ファイルの内容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3200400" cy="4389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594360"/>
            <a:ext cx="32004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6858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ディレクトリ構成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2971800" cy="3840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42416"/>
            <a:ext cx="29260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.kiro/steering/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tech.md          ← always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 技術スタック・共通ルール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naming.md        ← fileMatch(*.tf)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 Terraform命名規則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security.md      ← auto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 セキュリティ・IAM・VPC方針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directory.md     ← always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 指定ディレクトリ構成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env-limits.md    ← always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 社内環境制限・制約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troubleshoot.md  ← manual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TF/ALBトラブルシュート手順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11880" y="594360"/>
            <a:ext cx="2331720" cy="1627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1880" y="594360"/>
            <a:ext cx="233172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Shape 9"/>
          <p:cNvSpPr/>
          <p:nvPr/>
        </p:nvSpPr>
        <p:spPr>
          <a:xfrm>
            <a:off x="3611880" y="594360"/>
            <a:ext cx="2331720" cy="3291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3685032" y="61264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tech.md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184648" y="649224"/>
            <a:ext cx="685800" cy="16459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184648" y="64922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3666744" y="960120"/>
            <a:ext cx="2212848" cy="120700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Text 14"/>
          <p:cNvSpPr/>
          <p:nvPr/>
        </p:nvSpPr>
        <p:spPr>
          <a:xfrm>
            <a:off x="3703320" y="978408"/>
            <a:ext cx="215798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技術スタック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IaC: Terraform（バージョン指定）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Cloud: AWS（リージョン: ap-northeast-1）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言語: Python 3.11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共通モジュール: shared-modules/ repo を参照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利用可能サービスはモジュールから選択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tfstate管理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バックエンド: S3 + DynamoDBロック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バケット: tfstate-{env}-{pj}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053328" y="594360"/>
            <a:ext cx="2331720" cy="1627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53328" y="594360"/>
            <a:ext cx="233172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9" name="Shape 17"/>
          <p:cNvSpPr/>
          <p:nvPr/>
        </p:nvSpPr>
        <p:spPr>
          <a:xfrm>
            <a:off x="6053328" y="594360"/>
            <a:ext cx="2331720" cy="32918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61264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naming.md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626096" y="649224"/>
            <a:ext cx="685800" cy="16459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7626096" y="64922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fileMatch(*.tf)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6108192" y="960120"/>
            <a:ext cx="2212848" cy="120700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4" name="Text 22"/>
          <p:cNvSpPr/>
          <p:nvPr/>
        </p:nvSpPr>
        <p:spPr>
          <a:xfrm>
            <a:off x="6144768" y="978408"/>
            <a:ext cx="215798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Terraform命名規則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リソース: snake_case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変数名: 環境プレフィックス付き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例) var.env, var.project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モジュール参照ルール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"vpc"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source = "../../shared-modules/vpc"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env    = var.env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必須タグ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 / Owner / Project / CostCenter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611880" y="2350008"/>
            <a:ext cx="2331720" cy="1627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11880" y="2350008"/>
            <a:ext cx="233172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Shape 25"/>
          <p:cNvSpPr/>
          <p:nvPr/>
        </p:nvSpPr>
        <p:spPr>
          <a:xfrm>
            <a:off x="3611880" y="2350008"/>
            <a:ext cx="2331720" cy="32918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3685032" y="236829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security.md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184648" y="2404872"/>
            <a:ext cx="685800" cy="16459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5184648" y="2404872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3666744" y="2715768"/>
            <a:ext cx="2212848" cy="120700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2" name="Text 30"/>
          <p:cNvSpPr/>
          <p:nvPr/>
        </p:nvSpPr>
        <p:spPr>
          <a:xfrm>
            <a:off x="3703320" y="2734056"/>
            <a:ext cx="215798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セキュリティ方針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IAM: 最小権限・ロールベース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KMS: CMK必須（AWSマネージド禁止）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SG: デフォルトDeny・ポート明示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VPC: IGW禁止、VPCエンドポイント経由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S3: パブリックアクセスブロック必須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ログ: CloudTrail/VPCフローログ必須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053328" y="2350008"/>
            <a:ext cx="2331720" cy="1627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53328" y="2350008"/>
            <a:ext cx="233172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5" name="Shape 33"/>
          <p:cNvSpPr/>
          <p:nvPr/>
        </p:nvSpPr>
        <p:spPr>
          <a:xfrm>
            <a:off x="6053328" y="2350008"/>
            <a:ext cx="2331720" cy="3291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6" name="Text 34"/>
          <p:cNvSpPr/>
          <p:nvPr/>
        </p:nvSpPr>
        <p:spPr>
          <a:xfrm>
            <a:off x="6126480" y="236829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directory.md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626096" y="2404872"/>
            <a:ext cx="685800" cy="16459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7626096" y="2404872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6108192" y="2715768"/>
            <a:ext cx="2212848" cy="120700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0" name="Text 38"/>
          <p:cNvSpPr/>
          <p:nvPr/>
        </p:nvSpPr>
        <p:spPr>
          <a:xfrm>
            <a:off x="6144768" y="2734056"/>
            <a:ext cx="215798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指定ディレクトリ構成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pj-xxx/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main.tf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variables.tf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outputs.tf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versions.tf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locals.tf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modules/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{service}/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├── main.tf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└── variables.tf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611880" y="4105656"/>
            <a:ext cx="2331720" cy="1627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611880" y="4105656"/>
            <a:ext cx="233172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3" name="Shape 41"/>
          <p:cNvSpPr/>
          <p:nvPr/>
        </p:nvSpPr>
        <p:spPr>
          <a:xfrm>
            <a:off x="3611880" y="4105656"/>
            <a:ext cx="2331720" cy="3291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4" name="Text 42"/>
          <p:cNvSpPr/>
          <p:nvPr/>
        </p:nvSpPr>
        <p:spPr>
          <a:xfrm>
            <a:off x="3685032" y="412394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env-limits.md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184648" y="4160520"/>
            <a:ext cx="685800" cy="16459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5184648" y="416052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3666744" y="4471416"/>
            <a:ext cx="2212848" cy="120700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8" name="Text 46"/>
          <p:cNvSpPr/>
          <p:nvPr/>
        </p:nvSpPr>
        <p:spPr>
          <a:xfrm>
            <a:off x="3703320" y="4489704"/>
            <a:ext cx="215798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社内環境制限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外部通信: プロキシ経由のみ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AMI: 承認済みリストから選択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インスタンスタイプ: 指定サイズのみ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リージョン: ap-northeast-1 固定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証明書: ACM（手動発行禁止）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DNS: Route53（外部DNS禁止）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053328" y="4105656"/>
            <a:ext cx="2331720" cy="1627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053328" y="4105656"/>
            <a:ext cx="23317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1" name="Shape 49"/>
          <p:cNvSpPr/>
          <p:nvPr/>
        </p:nvSpPr>
        <p:spPr>
          <a:xfrm>
            <a:off x="6053328" y="4105656"/>
            <a:ext cx="2331720" cy="32918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2" name="Text 50"/>
          <p:cNvSpPr/>
          <p:nvPr/>
        </p:nvSpPr>
        <p:spPr>
          <a:xfrm>
            <a:off x="6126480" y="412394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troubleshoot.md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626096" y="4160520"/>
            <a:ext cx="685800" cy="16459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7626096" y="416052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6108192" y="4471416"/>
            <a:ext cx="2212848" cy="120700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6" name="Text 54"/>
          <p:cNvSpPr/>
          <p:nvPr/>
        </p:nvSpPr>
        <p:spPr>
          <a:xfrm>
            <a:off x="6144768" y="4489704"/>
            <a:ext cx="215798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TF apply失敗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tfstate整合性確認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IAM権限・ポリシー確認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リソース依存関係確認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ALB疎通不可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SG inboundルール確認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ターゲットグループ状態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ヘルスチェックパス確認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とは ① — 仕組み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8595360" cy="40233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594360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起動時は name + description だけ読み込み（軽量）。リクエストが一致した瞬間に SKILL.md 全文を読み込む。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69848"/>
            <a:ext cx="4160520" cy="3913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69848"/>
            <a:ext cx="416052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16128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読み込みフロー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554480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155448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Kiro起動時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176479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全Skillのname + descriptionのみ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読み込み（本文は読まない→軽量）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" y="1965960"/>
            <a:ext cx="54864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4" name="Shape 12"/>
          <p:cNvSpPr/>
          <p:nvPr/>
        </p:nvSpPr>
        <p:spPr>
          <a:xfrm>
            <a:off x="411480" y="237744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237744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リクエスト照合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258775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ユーザーのリクエストとdescriptionを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照合して関連するSkillを特定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" y="2788920"/>
            <a:ext cx="54864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9" name="Shape 17"/>
          <p:cNvSpPr/>
          <p:nvPr/>
        </p:nvSpPr>
        <p:spPr>
          <a:xfrm>
            <a:off x="411480" y="3200400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320040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全文読み込み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341071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一致したSkillのSKILL.md全文を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コンテキストに読み込む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928" y="3611880"/>
            <a:ext cx="54864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4" name="Shape 22"/>
          <p:cNvSpPr/>
          <p:nvPr/>
        </p:nvSpPr>
        <p:spPr>
          <a:xfrm>
            <a:off x="411480" y="402336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68680" y="402336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references参照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8680" y="423367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SKILL.mdが指示した時のみ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references/内のファイルを追加読込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1480" y="4663440"/>
            <a:ext cx="3886200" cy="2011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9" name="Text 27"/>
          <p:cNvSpPr/>
          <p:nvPr/>
        </p:nvSpPr>
        <p:spPr>
          <a:xfrm>
            <a:off x="438912" y="46634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その他の呼び出し方：  / スラッシュコマンド  ／  明示的に「○○Skillを使って」と指示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17720" y="1069848"/>
            <a:ext cx="425196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17720" y="1069848"/>
            <a:ext cx="425196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116128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の構造（code-review例）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54880" y="1481328"/>
            <a:ext cx="3977640" cy="32918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4" name="Text 32"/>
          <p:cNvSpPr/>
          <p:nvPr/>
        </p:nvSpPr>
        <p:spPr>
          <a:xfrm>
            <a:off x="4800600" y="1508760"/>
            <a:ext cx="391363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code-review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コードレビュー・レビュー依頼時に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使用。Terraformとコードの品質・セキュリ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ティ・命名規則を確認する。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レビューチェックリスト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命名・構造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naming.md の命名規則に準拠か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指定ディレクトリ構成に沿っているか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セキュリティ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IAMポリシーが最小権限か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KMSキー設定が security.md に準拠か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SGルールに不要なポートがないか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Terraform品質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変数に説明(description)が付いているか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outputsが適切に定義されているか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shared-modules/を正しく参照しているか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モジュール利用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利用可能サービスはモジュール経由か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モジュールのバージョン固定がされているか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4773168"/>
            <a:ext cx="8595360" cy="237744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773168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open Agent Skills 標準準拠 → GitHub Copilot 等と SKILL.md を共有可能 ／ ワークスペース &gt; グローバルの優先順位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とは ② — ディレクトリ構成と各 SKILL.md の内容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3200400" cy="4389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594360"/>
            <a:ext cx="32004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6858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ディレクトリ構成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2971800" cy="3840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42416"/>
            <a:ext cx="29260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.kiro/skills/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code-review/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SKILL.md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← レビューチェックリスト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terraform-patterns/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SKILL.md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← モジュール参照パターン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references/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module-list.md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domain-knowledge/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SKILL.md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← 社内システム仕様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references/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system-spec.md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design-doc/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SKILL.md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← 設計書生成指示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references/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└── template.md（フォーマット）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3611880" y="594360"/>
            <a:ext cx="2633472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1880" y="594360"/>
            <a:ext cx="263347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Shape 9"/>
          <p:cNvSpPr/>
          <p:nvPr/>
        </p:nvSpPr>
        <p:spPr>
          <a:xfrm>
            <a:off x="3611880" y="594360"/>
            <a:ext cx="2633472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3685032" y="612648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code-review/SKILL.md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85032" y="795528"/>
            <a:ext cx="2487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コードレビュー・レビュー依頼時に起動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85032" y="987552"/>
            <a:ext cx="2487168" cy="1600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" name="Text 13"/>
          <p:cNvSpPr/>
          <p:nvPr/>
        </p:nvSpPr>
        <p:spPr>
          <a:xfrm>
            <a:off x="3721608" y="1014984"/>
            <a:ext cx="24231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チェックリスト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命名規則(naming.md)準拠か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IAM最小権限・KMS設定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SGルール・VPC設計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shared-modules/参照有無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Terraform変数・outputs定義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ディレクトリ構成の適合確認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611880" y="2816352"/>
            <a:ext cx="2633472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11880" y="2816352"/>
            <a:ext cx="2633472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Shape 16"/>
          <p:cNvSpPr/>
          <p:nvPr/>
        </p:nvSpPr>
        <p:spPr>
          <a:xfrm>
            <a:off x="3611880" y="2816352"/>
            <a:ext cx="2633472" cy="3474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3685032" y="2834640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terraform-patterns/SKILL.md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85032" y="3017520"/>
            <a:ext cx="2487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Terraformコード生成・モジュール利用時に起動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685032" y="3209544"/>
            <a:ext cx="2487168" cy="1600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2" name="Text 20"/>
          <p:cNvSpPr/>
          <p:nvPr/>
        </p:nvSpPr>
        <p:spPr>
          <a:xfrm>
            <a:off x="3721608" y="3236976"/>
            <a:ext cx="24231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モジュール参照パターン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"{name}"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source = "../../shared-modules/{svc}"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env    = var.env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project = var.project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詳細はreferences/module-list.md参照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利用可能モジュール一覧と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パラメーター仕様を記載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053328" y="594360"/>
            <a:ext cx="2633472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53328" y="594360"/>
            <a:ext cx="2633472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5" name="Shape 23"/>
          <p:cNvSpPr/>
          <p:nvPr/>
        </p:nvSpPr>
        <p:spPr>
          <a:xfrm>
            <a:off x="6053328" y="594360"/>
            <a:ext cx="2633472" cy="34747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612648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domain-knowledge/SKILL.md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26480" y="795528"/>
            <a:ext cx="2487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社内システム・ドメイン固有の質問時に起動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126480" y="987552"/>
            <a:ext cx="2487168" cy="1600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Text 27"/>
          <p:cNvSpPr/>
          <p:nvPr/>
        </p:nvSpPr>
        <p:spPr>
          <a:xfrm>
            <a:off x="6163056" y="1014984"/>
            <a:ext cx="24231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社内システム仕様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認証基盤: 社内IdP（SAML）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DNS管理: Route53（社内ルール有）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証明書: ACM（発行手順あり）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ネットワーク: 共有VPC構成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詳細はreferences/system-spec.md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社内固有の仕様・制約を記載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053328" y="2816352"/>
            <a:ext cx="2633472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53328" y="2816352"/>
            <a:ext cx="263347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2" name="Shape 30"/>
          <p:cNvSpPr/>
          <p:nvPr/>
        </p:nvSpPr>
        <p:spPr>
          <a:xfrm>
            <a:off x="6053328" y="2816352"/>
            <a:ext cx="2633472" cy="3474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3" name="Text 31"/>
          <p:cNvSpPr/>
          <p:nvPr/>
        </p:nvSpPr>
        <p:spPr>
          <a:xfrm>
            <a:off x="6126480" y="2834640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design-doc/SKILL.md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26480" y="3017520"/>
            <a:ext cx="2487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設計書作成・パラメーターシート入力時に起動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126480" y="3209544"/>
            <a:ext cx="2487168" cy="1600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6" name="Text 34"/>
          <p:cNvSpPr/>
          <p:nvPr/>
        </p:nvSpPr>
        <p:spPr>
          <a:xfrm>
            <a:off x="6163056" y="3236976"/>
            <a:ext cx="24231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設計書生成手順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references/template.mdのフォーマット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を読み込む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Specのdesign.mdの内容を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各セクションに当てはめる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パラメーターシートの値を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表形式で埋める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Markdown形式で出力する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とは ① — 仕組み（3フェーズ＋記述例）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8595360" cy="40233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594360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 → 直接コード生成ではなく「要件 → 設計 → タスク」の3段階を踏む。精度と追跡性が大幅に向上。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69848"/>
            <a:ext cx="2788920" cy="3913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69848"/>
            <a:ext cx="278892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069848"/>
            <a:ext cx="2788920" cy="47548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108813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要件定義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" y="131673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requirements.md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84048" y="1600200"/>
            <a:ext cx="438912" cy="164592"/>
          </a:xfrm>
          <a:prstGeom prst="roundRect">
            <a:avLst>
              <a:gd name="adj" fmla="val 22222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160020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68680" y="160020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何を作るか を定義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4048" y="1810512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EARS記法でユーザーストーリーと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受け入れ基準を構造化。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パラメーターシートの要件を転記。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" y="2267712"/>
            <a:ext cx="2633472" cy="2596896"/>
          </a:xfrm>
          <a:prstGeom prst="rect">
            <a:avLst/>
          </a:prstGeom>
          <a:solidFill>
            <a:srgbClr val="F1F5F9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2267712"/>
            <a:ext cx="2633472" cy="2011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267712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記述例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4048" y="2496312"/>
            <a:ext cx="2578608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ユーザーストーリー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ALBへのHTTPリクエスト時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system shall HTTPSへ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リダイレクトする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受け入れ基準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HTTP(80)→HTTPS(443)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ACMで証明書取得済み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ヘルスチェック: /health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非機能: レスポンス200ms以下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3081528" y="2651760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18688" y="1069848"/>
            <a:ext cx="2788920" cy="3913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18688" y="1069848"/>
            <a:ext cx="278892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Shape 20"/>
          <p:cNvSpPr/>
          <p:nvPr/>
        </p:nvSpPr>
        <p:spPr>
          <a:xfrm>
            <a:off x="3218688" y="1069848"/>
            <a:ext cx="2788920" cy="4754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0" y="108813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設計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91840" y="131673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design.md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28416" y="1600200"/>
            <a:ext cx="438912" cy="164592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3328416" y="160020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813048" y="160020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どう作るか を定義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28416" y="1810512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利用モジュール・リソース構成を定義。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Kiroが shared-modules/ のコードを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分析して自動生成。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91840" y="2267712"/>
            <a:ext cx="2633472" cy="2596896"/>
          </a:xfrm>
          <a:prstGeom prst="rect">
            <a:avLst/>
          </a:prstGeom>
          <a:solidFill>
            <a:srgbClr val="F1F5F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91840" y="2267712"/>
            <a:ext cx="2633472" cy="2011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3310128" y="2267712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記述例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28416" y="2496312"/>
            <a:ext cx="2578608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利用モジュール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shared-modules/alb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shared-modules/acm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アーキテクチャ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ALB → TG → EC2(既存)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パラメーター（シートより）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ALB名: pj-xxx-alb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証明書ARN: arn:aws:acm:...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ターゲットポート: 8080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ヘルスチェック: /health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6025896" y="2651760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63056" y="1069848"/>
            <a:ext cx="2788920" cy="3913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63056" y="1069848"/>
            <a:ext cx="27889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6" name="Shape 34"/>
          <p:cNvSpPr/>
          <p:nvPr/>
        </p:nvSpPr>
        <p:spPr>
          <a:xfrm>
            <a:off x="6163056" y="1069848"/>
            <a:ext cx="2788920" cy="4754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7" name="Text 35"/>
          <p:cNvSpPr/>
          <p:nvPr/>
        </p:nvSpPr>
        <p:spPr>
          <a:xfrm>
            <a:off x="6236208" y="108813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タスク一覧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236208" y="131673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tasks.md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72784" y="1600200"/>
            <a:ext cx="438912" cy="164592"/>
          </a:xfrm>
          <a:prstGeom prst="roundRect">
            <a:avLst>
              <a:gd name="adj" fmla="val 22222"/>
            </a:avLst>
          </a:prstGeom>
          <a:solidFill>
            <a:srgbClr val="2563EB"/>
          </a:solidFill>
          <a:ln/>
        </p:spPr>
      </p:sp>
      <p:sp>
        <p:nvSpPr>
          <p:cNvPr id="40" name="Text 38"/>
          <p:cNvSpPr/>
          <p:nvPr/>
        </p:nvSpPr>
        <p:spPr>
          <a:xfrm>
            <a:off x="6272784" y="160020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757416" y="160020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実装ステップ を定義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272784" y="1810512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依存関係順にKiroが自動生成。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各タスクをクリックすると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Kiroが自律実装・コード生成。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236208" y="2267712"/>
            <a:ext cx="2633472" cy="2596896"/>
          </a:xfrm>
          <a:prstGeom prst="rect">
            <a:avLst/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36208" y="2267712"/>
            <a:ext cx="2633472" cy="2011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5" name="Text 43"/>
          <p:cNvSpPr/>
          <p:nvPr/>
        </p:nvSpPr>
        <p:spPr>
          <a:xfrm>
            <a:off x="6254496" y="2267712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記述例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72784" y="2496312"/>
            <a:ext cx="2578608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1. ACM証明書モジュール設定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2. ALBモジュール呼び出し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3. HTTPSリスナー設定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4. HTTPリダイレクト設定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5. ターゲットグループ設定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6. variables.tf定義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7. outputs.tf作成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8. 基本設計書Markdown生成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274320" y="4773168"/>
            <a:ext cx="859536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4773168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パラメーターシートの値をrequirements.md/design.mdに転記 → Kiroがモジュール参照コードと設計書を自動生成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とは ② — ディレクトリ構成と各ファイルの内容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3200400" cy="4389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594360"/>
            <a:ext cx="32004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6858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ディレクトリ構成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2971800" cy="3840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42416"/>
            <a:ext cx="29260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.kiro/specs/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{案件名-pj}/        ← 案件毎に作成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requirements.md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← 要件・受け入れ基準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  パラメーターシートの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  要件部分を転記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design.md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← 利用モジュール一覧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  アーキテクチャ構成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  パラメーター値（シートより）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tasks.md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← 実装タスクリスト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Kiroが自動生成・逐次実行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設計書生成タスクも含む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※ .kiro/はGit管理方針検討中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specs/はローカル管理が現有力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3611880" y="594360"/>
            <a:ext cx="525780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1880" y="594360"/>
            <a:ext cx="52578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Shape 9"/>
          <p:cNvSpPr/>
          <p:nvPr/>
        </p:nvSpPr>
        <p:spPr>
          <a:xfrm>
            <a:off x="3611880" y="594360"/>
            <a:ext cx="5257800" cy="3291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3703320" y="61264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requirements.md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806440" y="649224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何を作るか — パラメーターシートの要件を転記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85032" y="960120"/>
            <a:ext cx="5120640" cy="10972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" name="Text 13"/>
          <p:cNvSpPr/>
          <p:nvPr/>
        </p:nvSpPr>
        <p:spPr>
          <a:xfrm>
            <a:off x="3721608" y="978408"/>
            <a:ext cx="504748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案件概要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案件名: pj-xxx（ALB HTTPS化）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担当: {name} / 期限: {date}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ユーザーストーリー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{条件} the system shall {動作}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受け入れ基準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HTTP→HTTPSリダイレクト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ACM証明書の適用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ヘルスチェック /health で200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非機能要件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レスポンス: 200ms以下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可用性: 99.9%以上（Multi-AZ）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611880" y="2331720"/>
            <a:ext cx="525780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11880" y="2331720"/>
            <a:ext cx="52578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Shape 16"/>
          <p:cNvSpPr/>
          <p:nvPr/>
        </p:nvSpPr>
        <p:spPr>
          <a:xfrm>
            <a:off x="3611880" y="2331720"/>
            <a:ext cx="5257800" cy="32918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3703320" y="235000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design.md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06440" y="2386584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どう作るか — モジュール一覧とパラメーター値（シートより）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85032" y="2697480"/>
            <a:ext cx="5120640" cy="10972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2" name="Text 20"/>
          <p:cNvSpPr/>
          <p:nvPr/>
        </p:nvSpPr>
        <p:spPr>
          <a:xfrm>
            <a:off x="3721608" y="2715768"/>
            <a:ext cx="504748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利用モジュール（shared-modules/より）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alb: バージョン x.x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acm: バージョン x.x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アーキテクチャ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[ALB] → [TargetGroup] → [EC2]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パラメーター（パラメーターシートより転記）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リソース  | パラメーター | 値              |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|----------|------------|----------------|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ALB      | 名前        | pj-xxx-alb     |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ALB      | スキーム    | internet-facing |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ACM      | ドメイン    | example.com    |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TG       | ポート      | 8080           |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611880" y="4069080"/>
            <a:ext cx="525780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11880" y="4069080"/>
            <a:ext cx="52578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Shape 23"/>
          <p:cNvSpPr/>
          <p:nvPr/>
        </p:nvSpPr>
        <p:spPr>
          <a:xfrm>
            <a:off x="3611880" y="4069080"/>
            <a:ext cx="5257800" cy="32918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3703320" y="40873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tasks.md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06440" y="4123944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実装ステップ — Kiroが自動生成・クリックで逐次実行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85032" y="4434840"/>
            <a:ext cx="5120640" cy="10972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Text 27"/>
          <p:cNvSpPr/>
          <p:nvPr/>
        </p:nvSpPr>
        <p:spPr>
          <a:xfrm>
            <a:off x="3721608" y="4453128"/>
            <a:ext cx="504748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実装タスク（Kiroが自動生成）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インフラコード生成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1. ACMモジュール設定(acm.tf)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2. ALBモジュール呼び出し(alb.tf)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3. HTTPSリスナー設定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4. HTTPリダイレクトルール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5. variables.tf / outputs.tf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ドキュメント生成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6. 基本設計書(Markdown)生成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→ design-doc Skillが起動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7. コードレビュー実施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→ code-review Skillが起動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/ Skills / Spec — 比較表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22860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594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観点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06040" y="594360"/>
            <a:ext cx="256032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2606040" y="594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212080" y="594360"/>
            <a:ext cx="192024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0" y="5943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178040" y="594360"/>
            <a:ext cx="173736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7178040" y="594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1051560"/>
            <a:ext cx="2286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051560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606040" y="1051560"/>
            <a:ext cx="2560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7480" y="105156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AIの行動規範を定義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212080" y="1051560"/>
            <a:ext cx="1920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105156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専門手順を必要時に提供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178040" y="1051560"/>
            <a:ext cx="1737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69480" y="1051560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機能実装の設計図作成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1581912"/>
            <a:ext cx="228600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1581912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読み込み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606040" y="1581912"/>
            <a:ext cx="256032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97480" y="1581912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設定モードで常時 or 自動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212080" y="1581912"/>
            <a:ext cx="19202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0" y="1581912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リクエスト一致時のみ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178040" y="1581912"/>
            <a:ext cx="173736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69480" y="1581912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明示的に作成・参照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2112264"/>
            <a:ext cx="2286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112264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記述場所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606040" y="2112264"/>
            <a:ext cx="2560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97480" y="2112264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.kiro/steering/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~/.kiro/steering/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212080" y="2112264"/>
            <a:ext cx="1920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0" y="2112264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.kiro/skills/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~/.kiro/skills/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178040" y="2112264"/>
            <a:ext cx="1737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69480" y="2112264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.kiro/specs/&lt;feature&gt;/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74320" y="2642616"/>
            <a:ext cx="228600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2642616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ファイル形式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606040" y="2642616"/>
            <a:ext cx="256032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97480" y="2642616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任意の .md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(front matter任意)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212080" y="2642616"/>
            <a:ext cx="19202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03520" y="2642616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SKILL.md + references/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178040" y="2642616"/>
            <a:ext cx="173736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69480" y="2642616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requirements.md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design.md / tasks.md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74320" y="3172968"/>
            <a:ext cx="2286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3172968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作成タイミング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606040" y="3172968"/>
            <a:ext cx="2560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97480" y="3172968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プロジェクト開始時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（以後随時更新）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212080" y="3172968"/>
            <a:ext cx="1920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03520" y="3172968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ワークフロー確立時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（再利用前提）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7178040" y="3172968"/>
            <a:ext cx="1737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69480" y="3172968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新機能・バグ修正の都度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74320" y="3703320"/>
            <a:ext cx="228600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3703320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他ツール互換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606040" y="3703320"/>
            <a:ext cx="256032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697480" y="370332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Kiro専用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(AGENTS.mdは互換あり)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212080" y="3703320"/>
            <a:ext cx="19202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303520" y="370332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open Agent Skills標準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Copilot等と共有可能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7178040" y="3703320"/>
            <a:ext cx="173736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269480" y="3703320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Kiro専用形式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274320" y="4233672"/>
            <a:ext cx="2286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5760" y="4233672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コンテキスト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2606040" y="4233672"/>
            <a:ext cx="2560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697480" y="4233672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常時消費（always時）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5212080" y="4233672"/>
            <a:ext cx="1920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303520" y="4233672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必要時のみ→節約効果大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7178040" y="4233672"/>
            <a:ext cx="1737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269480" y="4233672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作業中のみ参照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274320" y="4800600"/>
            <a:ext cx="8595360" cy="237744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65760" y="480060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2400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⚡ 使い分けの原則：Steering=常識（常時）／ Skills=手順（オンデマンド）／ Spec=設計図（機能開発の都度）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個別使用 vs 組み合わせ使用 — 分析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274320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40080"/>
            <a:ext cx="27432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640080"/>
            <a:ext cx="2743200" cy="3840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583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Steeringのみ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07899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メリット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3167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既存プロジェクトに最小コストで導入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16276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コーディング規約を即座に統一可能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197510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限界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2128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手順ミスは防げない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25237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機能実装の品質保証なし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0" y="640080"/>
            <a:ext cx="274320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640080"/>
            <a:ext cx="27432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0" y="640080"/>
            <a:ext cx="274320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0" y="6583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Skillsのみ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37560" y="107899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メリット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13167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デプロイ等の反復作業を自動化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37560" y="16276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チーム間でスキルを共有・再利用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37560" y="197510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限界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37560" y="22128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毎回同じ規約を説明する手間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37560" y="25237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生成コードの一貫性が低い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26480" y="640080"/>
            <a:ext cx="274320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640080"/>
            <a:ext cx="27432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Shape 24"/>
          <p:cNvSpPr/>
          <p:nvPr/>
        </p:nvSpPr>
        <p:spPr>
          <a:xfrm>
            <a:off x="6126480" y="640080"/>
            <a:ext cx="2743200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6583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Specのみ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63640" y="107899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メリット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63640" y="13167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複雑な機能を構造的に実装可能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63640" y="16276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設計意図がドキュメント化される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63640" y="197510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限界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63640" y="22128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Steeringなし→規約外コードを生成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63640" y="25237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デプロイ手順はSkillsがないと曖昧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4320" y="3108960"/>
            <a:ext cx="8595360" cy="347472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31089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組み合わせ使用（推奨）：Steering ＋ Skills ＋ Spec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274320" y="3520440"/>
            <a:ext cx="27432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4320" y="3520440"/>
            <a:ext cx="27432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8" name="Text 36"/>
          <p:cNvSpPr/>
          <p:nvPr/>
        </p:nvSpPr>
        <p:spPr>
          <a:xfrm>
            <a:off x="411480" y="36301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+ Spec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11480" y="3968496"/>
            <a:ext cx="2468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Spec の要件・設計を Steering の規約通りに実装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「何を作るか」と「どう書くか」が連動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200400" y="3520440"/>
            <a:ext cx="27432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00400" y="3520440"/>
            <a:ext cx="27432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2" name="Text 40"/>
          <p:cNvSpPr/>
          <p:nvPr/>
        </p:nvSpPr>
        <p:spPr>
          <a:xfrm>
            <a:off x="3337560" y="36301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+ Skills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337560" y="3968496"/>
            <a:ext cx="2468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デプロイ手順(Skill)もチームの標準(Steering)に沿って実行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属人化防止・新人でも安全に運用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126480" y="3520440"/>
            <a:ext cx="27432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126480" y="3520440"/>
            <a:ext cx="27432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6" name="Text 44"/>
          <p:cNvSpPr/>
          <p:nvPr/>
        </p:nvSpPr>
        <p:spPr>
          <a:xfrm>
            <a:off x="6263640" y="36301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全部組み合わせ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263640" y="3968496"/>
            <a:ext cx="2468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設計(Spec)→実装規約(Steering)→デプロイ手順(Skills)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開発ライフサイクル全体をAIがサポート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ディレクトリ構成 — Azure DevOps ＋ ローカル WorkSpace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2651760" cy="347472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943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固定（EngCommonで管理）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108960" y="594360"/>
            <a:ext cx="2651760" cy="347472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5943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案件毎（各自ローカル管理）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43600" y="594360"/>
            <a:ext cx="292608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0" y="5943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Git管理方針：検討中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024128"/>
            <a:ext cx="3931920" cy="3950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024128"/>
            <a:ext cx="39319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1024128"/>
            <a:ext cx="3931920" cy="3474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0241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DevOps（チーム共有・Git管理）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1417320"/>
            <a:ext cx="3657600" cy="34564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1463040"/>
            <a:ext cx="3566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EngCommon/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.kiro/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steering/       ← 🔒 チーム共通規約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tech.md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naming.md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security.md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skills/         ← 🔒 共通スキル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code-review/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terraform-patterns/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domain-knowledge/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design-doc/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AWS-repo/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GCP-repo/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Azure-repo/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89120" y="1024128"/>
            <a:ext cx="4480560" cy="3950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89120" y="1024128"/>
            <a:ext cx="448056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Shape 16"/>
          <p:cNvSpPr/>
          <p:nvPr/>
        </p:nvSpPr>
        <p:spPr>
          <a:xfrm>
            <a:off x="4389120" y="1024128"/>
            <a:ext cx="4480560" cy="3474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4480560" y="102412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ローカル WorkSpace（各自PC・Git管理なし）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26280" y="1417320"/>
            <a:ext cx="4206240" cy="34564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1463040"/>
            <a:ext cx="4114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workspace/               ← Kiro WorkSpace ルート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.kiro/               ← ⚠️ Git管理方針検討中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steering/        ← EngCommonからPull・配置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skills/          ← EngCommonからPull・配置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specs/           ← 📝 ローカルのみ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aws-pj-xxx/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│   ├── requirements.md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│   ├── design.md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│   └── tasks.md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gcp-pj-yyy/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EngCommon/           ← Pull（参照用）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AWS-repo/            ← Pull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pj-xxx/         ← 📝 コード生成先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GCP-repo/            ← Pull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pj-yyy/         ← 📝 コード生成先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Azure-repo/          ← Pull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pj-zzz/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local-sandbox/       ← 📝 検証・試験用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test-work/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041648" y="233172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チーム展開フロー — 初期構築 ＆ 案件発生時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8595360" cy="27432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1：初期構築（一度だけ・チームリードが担当）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86384" y="941832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941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7472" y="157276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EngCommon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整備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1956816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steering/ skills/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をEngCommonに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Push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938528" y="107899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505456" y="941832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2505456" y="941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066544" y="157276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各自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66544" y="1956816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EngCommonを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Pullして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local.kiro/に配置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0" y="107899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224528" y="941832"/>
            <a:ext cx="566928" cy="566928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17" name="Text 15"/>
          <p:cNvSpPr/>
          <p:nvPr/>
        </p:nvSpPr>
        <p:spPr>
          <a:xfrm>
            <a:off x="4224528" y="941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785616" y="157276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作成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85616" y="1956816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ローカルに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workspace/を作成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各リポをPull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376672" y="107899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943600" y="941832"/>
            <a:ext cx="566928" cy="5669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0" y="941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504688" y="157276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04688" y="1956816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Kiro起動して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Steering・Skills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が読み込まれるか確認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095744" y="107899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662672" y="941832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7662672" y="941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223760" y="157276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チーム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展開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223760" y="1956816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手順をドキュメント化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全メンバーに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展開・共有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2633472"/>
            <a:ext cx="8595360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26334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2：案件発生時（繰り返し・各メンバーが担当）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86384" y="2980944"/>
            <a:ext cx="566928" cy="5669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3" name="Text 31"/>
          <p:cNvSpPr/>
          <p:nvPr/>
        </p:nvSpPr>
        <p:spPr>
          <a:xfrm>
            <a:off x="786384" y="29809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347472" y="361188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PJフォルダ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作成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7472" y="3995928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AWS-repo/pj-xxx/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を新規作成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（案件リポ配下）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938528" y="311810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2505456" y="2980944"/>
            <a:ext cx="566928" cy="5669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8" name="Text 36"/>
          <p:cNvSpPr/>
          <p:nvPr/>
        </p:nvSpPr>
        <p:spPr>
          <a:xfrm>
            <a:off x="2505456" y="29809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2066544" y="361188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作成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066544" y="3995928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.kiro/specs/に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req→design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→tasks生成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657600" y="311810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4224528" y="2980944"/>
            <a:ext cx="566928" cy="5669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3" name="Text 41"/>
          <p:cNvSpPr/>
          <p:nvPr/>
        </p:nvSpPr>
        <p:spPr>
          <a:xfrm>
            <a:off x="4224528" y="29809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3785616" y="361188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785616" y="3995928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tasks.mdから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1タスクずつ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PJフォルダに出力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376672" y="311810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5943600" y="2980944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8" name="Text 46"/>
          <p:cNvSpPr/>
          <p:nvPr/>
        </p:nvSpPr>
        <p:spPr>
          <a:xfrm>
            <a:off x="5943600" y="29809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5504688" y="361188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活用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504688" y="3995928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レビュー・設計書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生成等Skillが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自動起動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095744" y="311810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7662672" y="2980944"/>
            <a:ext cx="566928" cy="566928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53" name="Text 51"/>
          <p:cNvSpPr/>
          <p:nvPr/>
        </p:nvSpPr>
        <p:spPr>
          <a:xfrm>
            <a:off x="7662672" y="29809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7223760" y="361188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コミット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＆完了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223760" y="3995928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生成コードを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各リポに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コミット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案件でない検証・試験は local-sandbox/ にフォルダ作成 → 気軽に試せる（リポに影響なし）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検討事項 — 現時点で未決・今後判断が必要な項目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8595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58368"/>
            <a:ext cx="85953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658368"/>
            <a:ext cx="8595360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65836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.kiro/ のGit管理方針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046720" y="722376"/>
            <a:ext cx="731520" cy="219456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0" y="72237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検討中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0515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steering/ と skills/ はEngCommonで管理する方針だが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.kiro/ フォルダ全体（specs含む）をGitに入れるかは未決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74720" y="105156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案A：steering/skills/のみEngCommon管理、specs/はローカル（現有力）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案B：.kiro/全体をEngCommonで管理（specs/も共有したい場合）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案C：各リポ配下にspecs/を置いてコードと一体管理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093976"/>
            <a:ext cx="8595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093976"/>
            <a:ext cx="85953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Shape 12"/>
          <p:cNvSpPr/>
          <p:nvPr/>
        </p:nvSpPr>
        <p:spPr>
          <a:xfrm>
            <a:off x="274320" y="2093976"/>
            <a:ext cx="8595360" cy="3474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093976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WorkSpace構成の標準化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46720" y="2157984"/>
            <a:ext cx="731520" cy="219456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0" y="215798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検討中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248716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各メンバーがローカルにworkspace/を作る手順を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どう標準化・ドキュメント化するか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74720" y="2487168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セットアップ手順書をEngCommonに格納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steering/にworkspace構成ルールを明記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初回セットアップスクリプトを用意（git clone + フォルダ作成）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529584"/>
            <a:ext cx="8595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529584"/>
            <a:ext cx="85953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3529584"/>
            <a:ext cx="859536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3529584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steering/ skills/ の更新フロー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46720" y="3593592"/>
            <a:ext cx="731520" cy="219456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0" y="359359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要設計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3922776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EngCommonで更新があった際、各メンバーが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ローカルの.kiro/に反映する手順が必要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474720" y="3922776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定期的にEngCommonをPullして手動コピー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シンボリックリンクでEngCommon/.kiro/を参照（要検証）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Kiroの~/.kiro/steering/（グローバル）にリンクする方法を調査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71A30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0"/>
            <a:ext cx="54864" cy="51435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7178040" y="36576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589520" y="36576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001000" y="36576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412480" y="36576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178040" y="86868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589520" y="86868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001000" y="86868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412480" y="86868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178040" y="137160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589520" y="137160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001000" y="137160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0" y="137160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178040" y="187452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589520" y="187452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001000" y="187452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412480" y="187452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178040" y="237744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589520" y="237744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001000" y="237744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412480" y="237744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27432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365760" y="804672"/>
            <a:ext cx="3657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7" name="Shape 25"/>
          <p:cNvSpPr/>
          <p:nvPr/>
        </p:nvSpPr>
        <p:spPr>
          <a:xfrm>
            <a:off x="365760" y="960120"/>
            <a:ext cx="73152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530352" y="9601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0352" y="1179576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AIへの常識インプット。規約・スタック・セキュリティをMarkdownで定義し常時記憶させる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1563624"/>
            <a:ext cx="73152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530352" y="156362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0352" y="17830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オンデマンド専門知識。コードレビュー・Terraformパターン・ドメイン知識・設計書生成をSKILL.mdに集約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2167128"/>
            <a:ext cx="731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4" name="Text 32"/>
          <p:cNvSpPr/>
          <p:nvPr/>
        </p:nvSpPr>
        <p:spPr>
          <a:xfrm>
            <a:off x="530352" y="21671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0352" y="2386584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設計図。要件→設計→タスクの3段階で複雑な機能を精度高く実装。設計意図も保存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2770632"/>
            <a:ext cx="73152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530352" y="27706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組み合わせ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0352" y="2990088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Steering（常識）＋ Spec（設計）＋ Skills（手順）= 開発ライフサイクル全体をカバー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65760" y="3520440"/>
            <a:ext cx="3657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36118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次のステップ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365760" y="4005072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① Anthropicモデル審査結果を確認（申請中）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② 承認後：EngCommonにsteering/ skills/ 試作（tech.md / naming.md / security.md / code-review等）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③ 各自ローカルWorkSpace構築手順を整備・ドキュメント化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④ .kiro/ Git管理方針・specs/置き場を決定（検討事項①②③を解決）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⑤ 小さな案件でSpec試験運用 → チームへPoC共有・本格導入可否判断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2026-03-26T07:51:38Z</dcterms:created>
  <dcterms:modified xsi:type="dcterms:W3CDTF">2026-03-26T07:51:38Z</dcterms:modified>
</cp:coreProperties>
</file>