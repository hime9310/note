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7BE5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45720"/>
          </a:xfrm>
          <a:prstGeom prst="rect">
            <a:avLst/>
          </a:prstGeom>
          <a:solidFill>
            <a:srgbClr val="1E4976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457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645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023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457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645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4023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457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1645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4023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457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645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4023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57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645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023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457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645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28346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4023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Venafi 自動Push 検証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411480" y="2148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Disconnect 環境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411480" y="2788920"/>
            <a:ext cx="320040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証明書自動PushフローおよびALB連携の動作確認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11480" y="3520440"/>
            <a:ext cx="1828800" cy="347472"/>
          </a:xfrm>
          <a:prstGeom prst="rect">
            <a:avLst/>
          </a:prstGeom>
          <a:solidFill>
            <a:srgbClr val="1E4976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Venafi (外部SaaS)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23160" y="3520440"/>
            <a:ext cx="1828800" cy="347472"/>
          </a:xfrm>
          <a:prstGeom prst="rect">
            <a:avLst/>
          </a:prstGeom>
          <a:solidFill>
            <a:srgbClr val="1E4976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316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34840" y="3520440"/>
            <a:ext cx="1828800" cy="347472"/>
          </a:xfrm>
          <a:prstGeom prst="rect">
            <a:avLst/>
          </a:prstGeom>
          <a:solidFill>
            <a:srgbClr val="1E4976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46520" y="3520440"/>
            <a:ext cx="1828800" cy="347472"/>
          </a:xfrm>
          <a:prstGeom prst="rect">
            <a:avLst/>
          </a:prstGeom>
          <a:solidFill>
            <a:srgbClr val="1E4976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10.0.0.0/16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Deloitte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構成図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48640"/>
            <a:ext cx="91440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2103120" cy="4023360"/>
          </a:xfrm>
          <a:prstGeom prst="rect">
            <a:avLst/>
          </a:prstGeom>
          <a:solidFill>
            <a:srgbClr val="E8EDF5"/>
          </a:solidFill>
          <a:ln w="19050">
            <a:solidFill>
              <a:srgbClr val="CDD5E0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95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1956816" cy="256032"/>
          </a:xfrm>
          <a:prstGeom prst="rect">
            <a:avLst/>
          </a:prstGeom>
          <a:solidFill>
            <a:srgbClr val="006B5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07899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デロイトネットワーク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8912" y="1417320"/>
            <a:ext cx="1773936" cy="777240"/>
          </a:xfrm>
          <a:prstGeom prst="rect">
            <a:avLst/>
          </a:prstGeom>
          <a:solidFill>
            <a:srgbClr val="FFF4ED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463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Venafi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81051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外部SaaS（グローバル）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38912" y="2468880"/>
            <a:ext cx="1773936" cy="731520"/>
          </a:xfrm>
          <a:prstGeom prst="rect">
            <a:avLst/>
          </a:prstGeom>
          <a:solidFill>
            <a:srgbClr val="EEF4FF"/>
          </a:solidFill>
          <a:ln w="19050">
            <a:solidFill>
              <a:srgbClr val="2C7B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49631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システム管理者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2798064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社内PC / Japan NW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514600" y="777240"/>
            <a:ext cx="6309360" cy="4023360"/>
          </a:xfrm>
          <a:prstGeom prst="rect">
            <a:avLst/>
          </a:prstGeom>
          <a:solidFill>
            <a:srgbClr val="F0F4FA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42032" y="795528"/>
            <a:ext cx="6254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Account  (DCS Disconnected)  ap-northeast-1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51760" y="1115568"/>
            <a:ext cx="6053328" cy="3520440"/>
          </a:xfrm>
          <a:prstGeom prst="rect">
            <a:avLst/>
          </a:prstGeom>
          <a:solidFill>
            <a:srgbClr val="E8F0E8"/>
          </a:solidFill>
          <a:ln w="12700">
            <a:solidFill>
              <a:srgbClr val="2EA44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679192" y="1133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10.0.0.0/16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79192" y="131673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Table: 0.0.0.0/0 → IGW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542032" y="1874520"/>
            <a:ext cx="868680" cy="868680"/>
          </a:xfrm>
          <a:prstGeom prst="ellipse">
            <a:avLst/>
          </a:prstGeom>
          <a:solidFill>
            <a:srgbClr val="1B3A5C"/>
          </a:solidFill>
          <a:ln w="254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42032" y="1874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27614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VPCの玄関口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11880" y="1536192"/>
            <a:ext cx="2194560" cy="1828800"/>
          </a:xfrm>
          <a:prstGeom prst="rect">
            <a:avLst/>
          </a:prstGeom>
          <a:solidFill>
            <a:srgbClr val="D6E8F7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1a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10.0.1.0/24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943600" y="1536192"/>
            <a:ext cx="2194560" cy="1828800"/>
          </a:xfrm>
          <a:prstGeom prst="rect">
            <a:avLst/>
          </a:prstGeom>
          <a:solidFill>
            <a:srgbClr val="D6E8F7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1c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10.0.2.0/24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931920" y="2011680"/>
            <a:ext cx="2103120" cy="868680"/>
          </a:xfrm>
          <a:prstGeom prst="rect">
            <a:avLst/>
          </a:prstGeom>
          <a:solidFill>
            <a:srgbClr val="1B3A5C"/>
          </a:solidFill>
          <a:ln w="19050">
            <a:solidFill>
              <a:srgbClr val="79C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31920" y="20299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2395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internet-facing  HTTPS:443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224528" y="1883664"/>
            <a:ext cx="1517904" cy="201168"/>
          </a:xfrm>
          <a:prstGeom prst="rect">
            <a:avLst/>
          </a:prstGeom>
          <a:solidFill>
            <a:srgbClr val="1A3A1A"/>
          </a:solidFill>
          <a:ln w="12700">
            <a:solidFill>
              <a:srgbClr val="2EA4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24528" y="1883664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SG: HTTPS 443 許可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931920" y="3017520"/>
            <a:ext cx="2103120" cy="822960"/>
          </a:xfrm>
          <a:prstGeom prst="rect">
            <a:avLst/>
          </a:prstGeom>
          <a:solidFill>
            <a:srgbClr val="1F1040"/>
          </a:solidFill>
          <a:ln w="19050">
            <a:solidFill>
              <a:srgbClr val="A371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931920" y="30358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931920" y="33649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証明書受け入れ・ALBアタッチ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263640" y="2286000"/>
            <a:ext cx="1691640" cy="777240"/>
          </a:xfrm>
          <a:prstGeom prst="rect">
            <a:avLst/>
          </a:prstGeom>
          <a:solidFill>
            <a:srgbClr val="0D2818"/>
          </a:solidFill>
          <a:ln w="19050">
            <a:solidFill>
              <a:srgbClr val="2EA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230428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26060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ALBアクセスログ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212848" y="1801368"/>
            <a:ext cx="347472" cy="502920"/>
          </a:xfrm>
          <a:prstGeom prst="line">
            <a:avLst/>
          </a:prstGeom>
          <a:noFill/>
          <a:ln w="19050">
            <a:solidFill>
              <a:srgbClr val="F0883E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233172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証明書Push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212848" y="2651760"/>
            <a:ext cx="365760" cy="-384048"/>
          </a:xfrm>
          <a:prstGeom prst="line">
            <a:avLst/>
          </a:prstGeom>
          <a:noFill/>
          <a:ln w="19050">
            <a:solidFill>
              <a:srgbClr val="2C7B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4871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410712" y="2304288"/>
            <a:ext cx="521208" cy="0"/>
          </a:xfrm>
          <a:prstGeom prst="line">
            <a:avLst/>
          </a:prstGeom>
          <a:noFill/>
          <a:ln w="25400">
            <a:solidFill>
              <a:srgbClr val="2C7B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215798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HTTPS:443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983480" y="2880360"/>
            <a:ext cx="0" cy="137160"/>
          </a:xfrm>
          <a:prstGeom prst="line">
            <a:avLst/>
          </a:prstGeom>
          <a:noFill/>
          <a:ln w="19050">
            <a:solidFill>
              <a:srgbClr val="A371F7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047488" y="29077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証明書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アタッチ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035040" y="2468880"/>
            <a:ext cx="228600" cy="91440"/>
          </a:xfrm>
          <a:prstGeom prst="line">
            <a:avLst/>
          </a:prstGeom>
          <a:noFill/>
          <a:ln w="19050">
            <a:solidFill>
              <a:srgbClr val="2EA44F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5852160" y="232257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Deloitte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構成の説明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48640"/>
            <a:ext cx="91440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77240"/>
            <a:ext cx="4160520" cy="1170432"/>
          </a:xfrm>
          <a:prstGeom prst="rect">
            <a:avLst/>
          </a:prstGeom>
          <a:solidFill>
            <a:srgbClr val="FFF4ED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91440" cy="117043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850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Venafi（外部SaaS）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1612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デロイトグローバルネットワーク内で管理される証明書管理システム。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インターネット経由でAWS ACM APIへHTTPSでアクセスし、証明書を自動Push（ImportCertificate）する。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4160520" cy="1170432"/>
          </a:xfrm>
          <a:prstGeom prst="rect">
            <a:avLst/>
          </a:prstGeom>
          <a:solidFill>
            <a:srgbClr val="EEF4FF"/>
          </a:solidFill>
          <a:ln w="19050">
            <a:solidFill>
              <a:srgbClr val="2C7B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48840"/>
            <a:ext cx="91440" cy="1170432"/>
          </a:xfrm>
          <a:prstGeom prst="rect">
            <a:avLst/>
          </a:prstGeom>
          <a:solidFill>
            <a:srgbClr val="2C7BE5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2221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IGW（Internet Gateway）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5328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VPCの玄関口。Venafiからの証明書Push、および社内PCからのブラウザアクセスをVPC内へ中継する。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SubnetのRoute Tableに 0.0.0.0/0 → IGW を設定することで外部通信が可能になる。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520440"/>
            <a:ext cx="4160520" cy="1170432"/>
          </a:xfrm>
          <a:prstGeom prst="rect">
            <a:avLst/>
          </a:prstGeom>
          <a:solidFill>
            <a:srgbClr val="EEF4FF"/>
          </a:solidFill>
          <a:ln w="19050">
            <a:solidFill>
              <a:srgbClr val="2C7B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520440"/>
            <a:ext cx="91440" cy="1170432"/>
          </a:xfrm>
          <a:prstGeom prst="rect">
            <a:avLst/>
          </a:prstGeom>
          <a:solidFill>
            <a:srgbClr val="2C7BE5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35935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ALB（internet-facing）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39044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1a / 1c に跨って冗長配置（ALBの2AZ要件を満たす）。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HTTPSリスナー（443）でACMの証明書をアタッチ。ブラウザからDNSでアクセスしTLS証明書を確認する。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777240"/>
            <a:ext cx="4160520" cy="1170432"/>
          </a:xfrm>
          <a:prstGeom prst="rect">
            <a:avLst/>
          </a:prstGeom>
          <a:solidFill>
            <a:srgbClr val="F0EBF8"/>
          </a:solidFill>
          <a:ln w="19050">
            <a:solidFill>
              <a:srgbClr val="A371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777240"/>
            <a:ext cx="91440" cy="1170432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9" name="Text 17"/>
          <p:cNvSpPr/>
          <p:nvPr/>
        </p:nvSpPr>
        <p:spPr>
          <a:xfrm>
            <a:off x="5056632" y="850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ACM（Certificate Manager）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56632" y="11612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VenafiからImportCertificate APIで証明書をPushする受け入れ先。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取り込まれた証明書をALBのHTTPSリスナーにアタッチし、TLS終端を行う。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2148840"/>
            <a:ext cx="4160520" cy="1170432"/>
          </a:xfrm>
          <a:prstGeom prst="rect">
            <a:avLst/>
          </a:prstGeom>
          <a:solidFill>
            <a:srgbClr val="E8F5ED"/>
          </a:solidFill>
          <a:ln w="19050">
            <a:solidFill>
              <a:srgbClr val="2EA4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148840"/>
            <a:ext cx="91440" cy="1170432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23" name="Text 21"/>
          <p:cNvSpPr/>
          <p:nvPr/>
        </p:nvSpPr>
        <p:spPr>
          <a:xfrm>
            <a:off x="5056632" y="2221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56632" y="25328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ALBのアクセスログ保存先。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ブラウザからのHTTPSアクセスログを記録し、動作確認の証跡として使用する。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Deloitte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作成リソース一覧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48640"/>
            <a:ext cx="9144000" cy="45720"/>
          </a:xfrm>
          <a:prstGeom prst="rect">
            <a:avLst/>
          </a:prstGeom>
          <a:solidFill>
            <a:srgbClr val="F0883E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31520"/>
          <a:ext cx="8503920" cy="347472"/>
        </p:xfrm>
        <a:graphic>
          <a:graphicData uri="http://schemas.openxmlformats.org/drawingml/2006/table">
            <a:tbl>
              <a:tblPr/>
              <a:tblGrid>
                <a:gridCol w="365760"/>
                <a:gridCol w="1463040"/>
                <a:gridCol w="374904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リソース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設定値 / 備考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63040"/>
                <a:gridCol w="3749040"/>
                <a:gridCol w="29260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CIDR: 10.0.0.0/16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DNS解決・ホスト名: 有効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全リソースの基盤ネットワーク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VPCにアタッチ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外部→VPCへの通信経路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0.0.0.0/0 → IGW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Subnetに関連付け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インターネット経路の設定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Subnet 1a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10.0.1.0/24  ap-northeast-1a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ALBノード配置 (AZ冗長①)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Subnet 1c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10.0.2.0/24  ap-northeast-1c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ALBノード配置 (AZ冗長②)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Inbound: HTTPS 443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Outbound: 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ALBへのアクセス制御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internet-facing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HTTPSリスナー:443 / Subnet: 1a+1c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証明書アタッチ・疎通確認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ImportCertificate APIで受け入れ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ALBにアタッチ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Venafiからの証明書受け入れ先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Bucket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ALBアクセスログ有効化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動作確認の証跡保存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4572000"/>
            <a:ext cx="8503920" cy="256032"/>
          </a:xfrm>
          <a:prstGeom prst="rect">
            <a:avLst/>
          </a:prstGeom>
          <a:solidFill>
            <a:srgbClr val="FFF4E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0040" y="45720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IAMは別途用意済みのものを使用  　 ※ CloudTrailはDisconnect環境が自動作成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Deloitte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テストシナリオ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48640"/>
            <a:ext cx="9144000" cy="45720"/>
          </a:xfrm>
          <a:prstGeom prst="rect">
            <a:avLst/>
          </a:prstGeom>
          <a:solidFill>
            <a:srgbClr val="F0883E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13232"/>
          <a:ext cx="8503920" cy="32004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466344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テストケース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33272"/>
          <a:ext cx="85039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4663440"/>
                <a:gridCol w="91440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Venafi → ACM 証明書Push確認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VenafiコンソールからAWSターゲットへPush実行。ACMに証明書がImportされることを確認する。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→ ALB 証明書アタッチ確認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ImportされたACM証明書をALBのHTTPSリスナー(443)にアタッチし、設定が反映されることを確認する。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ブラウザからTLS接続確認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ALBのDNS名でhttps://アクセスし、ブラウザ上でVenafiが発行した証明書の内容（CN・有効期限等）を確認する。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S3アクセスログ確認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ALBアクセスログがS3バケットに出力されていることを確認する。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4572000"/>
            <a:ext cx="8503920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0040" y="45720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詳細テスト手順・期待値・エビデンスは別途テストシナリオシートに記載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Deloitte Internal Use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Venafi自動Push検証 - AWS Disconnect環境</dc:title>
  <dc:subject>PptxGenJS Presentation</dc:subject>
  <dc:creator>PptxGenJS</dc:creator>
  <cp:lastModifiedBy>PptxGenJS</cp:lastModifiedBy>
  <cp:revision>1</cp:revision>
  <dcterms:created xsi:type="dcterms:W3CDTF">2026-04-07T21:12:45Z</dcterms:created>
  <dcterms:modified xsi:type="dcterms:W3CDTF">2026-04-07T21:12:45Z</dcterms:modified>
</cp:coreProperties>
</file>