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303520"/>
            <a:ext cx="12161520" cy="1554480"/>
          </a:xfrm>
          <a:prstGeom prst="rect">
            <a:avLst/>
          </a:prstGeom>
          <a:solidFill>
            <a:srgbClr val="EBF6D9"/>
          </a:solidFill>
          <a:ln w="12700">
            <a:solidFill>
              <a:srgbClr val="EBF6D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1097280"/>
            <a:ext cx="10972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E5C0A"/>
                </a:solidFill>
              </a:rPr>
              <a:t>Kiro 仕様駆動開発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502920" y="193852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4F8719"/>
                </a:solidFill>
              </a:rPr>
              <a:t>Spec-Driven Development フロー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02920" y="274320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</a:rPr>
              <a:t>Steering / Spec / Skills の役割・準備順・コード生成までの一連の流れ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200400"/>
            <a:ext cx="548640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5394960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95959"/>
                </a:solidFill>
              </a:rPr>
              <a:t>仕様駆動開発 導入検討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571500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2026.04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F8719"/>
                </a:solidFill>
              </a:rPr>
              <a:t>目次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207008"/>
            <a:ext cx="11155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316736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3つの機能の概要と関係性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789920" y="131673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3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11155680" cy="548640"/>
          </a:xfrm>
          <a:prstGeom prst="rect">
            <a:avLst/>
          </a:prstGeom>
          <a:solidFill>
            <a:srgbClr val="EBF6D9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993392"/>
            <a:ext cx="1005840" cy="219456"/>
          </a:xfrm>
          <a:prstGeom prst="roundRect">
            <a:avLst>
              <a:gd name="adj" fmla="val 20833"/>
            </a:avLst>
          </a:prstGeom>
          <a:solidFill>
            <a:srgbClr val="4F8719"/>
          </a:solidFill>
          <a:ln w="12700">
            <a:solidFill>
              <a:srgbClr val="4F871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9339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★ メイン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572768" y="193852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F8719"/>
                </a:solidFill>
              </a:rPr>
              <a:t>一連の開発フロー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789920" y="19385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450592"/>
            <a:ext cx="11155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2560320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Spec とは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789920" y="256032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5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072384"/>
            <a:ext cx="11155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182112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Steering とは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789920" y="318211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5760" y="3694176"/>
            <a:ext cx="11155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803904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Skills とは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789920" y="3803904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7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65760" y="4315968"/>
            <a:ext cx="111556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4425696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</a:rPr>
              <a:t>チーム導入のポイント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789920" y="4425696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95959"/>
                </a:solidFill>
              </a:rPr>
              <a:t>8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65760" y="4937760"/>
            <a:ext cx="11155680" cy="548640"/>
          </a:xfrm>
          <a:prstGeom prst="rect">
            <a:avLst/>
          </a:prstGeom>
          <a:solidFill>
            <a:srgbClr val="F5F3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5102352"/>
            <a:ext cx="1097280" cy="219456"/>
          </a:xfrm>
          <a:prstGeom prst="roundRect">
            <a:avLst>
              <a:gd name="adj" fmla="val 208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51023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Appendix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572768" y="5047488"/>
            <a:ext cx="9326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21B6"/>
                </a:solidFill>
              </a:rPr>
              <a:t>Appendix：Skills の3分類と詳細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789920" y="50474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</a:rPr>
              <a:t>9–10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3つの機能の概要と関係性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03504"/>
            <a:ext cx="1152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Steering は全フェーズにバックグラウンドで適用され、Spec が開発の主軸を担い、Skills は必要な時にオンデマンドで呼び出す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896112"/>
            <a:ext cx="11521440" cy="27432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87552"/>
            <a:ext cx="35204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987552"/>
            <a:ext cx="3520440" cy="347472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8056" y="1033272"/>
            <a:ext cx="3300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Steering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11480" y="1389888"/>
            <a:ext cx="3355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コーディング規約・ルールをKiroに注入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1480" y="1682496"/>
            <a:ext cx="1971446" cy="21945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682496"/>
            <a:ext cx="197144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INPUT（人間が定義）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16759" y="1682496"/>
            <a:ext cx="1267358" cy="219456"/>
          </a:xfrm>
          <a:prstGeom prst="roundRect">
            <a:avLst>
              <a:gd name="adj" fmla="val 2083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16759" y="1682496"/>
            <a:ext cx="126735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事前準備  /  随時更新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29768" y="1956816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全フェーズにバックグラウンドで常時適用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2359152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チーム共通の規約・方針・制約を定義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2761488"/>
            <a:ext cx="3337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適用モード：always / fileMatch / manual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069080" y="987552"/>
            <a:ext cx="379476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5B2D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069080" y="987552"/>
            <a:ext cx="3794760" cy="347472"/>
          </a:xfrm>
          <a:prstGeom prst="rect">
            <a:avLst/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97096" y="1033272"/>
            <a:ext cx="35753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Spec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160520" y="1389888"/>
            <a:ext cx="3630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要件→設計→タスク→実装の主軸フロー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60520" y="1682496"/>
            <a:ext cx="2125066" cy="219456"/>
          </a:xfrm>
          <a:prstGeom prst="roundRect">
            <a:avLst>
              <a:gd name="adj" fmla="val 20833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60520" y="1682496"/>
            <a:ext cx="212506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Kiroが下書き→人間が承認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324905" y="1682496"/>
            <a:ext cx="1366114" cy="219456"/>
          </a:xfrm>
          <a:prstGeom prst="roundRect">
            <a:avLst>
              <a:gd name="adj" fmla="val 2083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24905" y="1682496"/>
            <a:ext cx="13661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機能・バグ修正ごとに実施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178808" y="1956816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requirements.md → design.md → tasks.md の3段階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178808" y="2359152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各フェーズで人間がレビュー・承認してから次へ進む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78808" y="2761488"/>
            <a:ext cx="3611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D82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Kiroが勝手に先へ進むことはない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8092440" y="987552"/>
            <a:ext cx="3749040" cy="2487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8092440" y="987552"/>
            <a:ext cx="3749040" cy="347472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0456" y="1033272"/>
            <a:ext cx="35295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Skills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183880" y="1389888"/>
            <a:ext cx="3584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95959"/>
                </a:solidFill>
              </a:rPr>
              <a:t>再利用可能な手順書・ナレッジ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183880" y="1682496"/>
            <a:ext cx="2099462" cy="219456"/>
          </a:xfrm>
          <a:prstGeom prst="roundRect">
            <a:avLst>
              <a:gd name="adj" fmla="val 20833"/>
            </a:avLst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682496"/>
            <a:ext cx="20994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INPUT（人間が定義）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0321747" y="1682496"/>
            <a:ext cx="1349654" cy="219456"/>
          </a:xfrm>
          <a:prstGeom prst="roundRect">
            <a:avLst>
              <a:gd name="adj" fmla="val 20833"/>
            </a:avLst>
          </a:prstGeom>
          <a:solidFill>
            <a:srgbClr val="555555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321747" y="1682496"/>
            <a:ext cx="134965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必要な時にオンデマンド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202168" y="195681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チャットで #スキル名 で呼び出して使う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202168" y="235915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Spec とは独立して利用できる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02168" y="276148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ワークスペース / ユーザーレベルで管理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320040" y="356616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5C0A"/>
                </a:solidFill>
              </a:rPr>
              <a:t>各機能の関係性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0040" y="3858768"/>
            <a:ext cx="11521440" cy="0"/>
          </a:xfrm>
          <a:prstGeom prst="line">
            <a:avLst/>
          </a:prstGeom>
          <a:noFill/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1480" y="3931920"/>
            <a:ext cx="7589520" cy="2340864"/>
          </a:xfrm>
          <a:prstGeom prst="rect">
            <a:avLst/>
          </a:prstGeom>
          <a:solidFill>
            <a:srgbClr val="EBF3FF"/>
          </a:solidFill>
          <a:ln w="12700">
            <a:solidFill>
              <a:srgbClr val="1F4E79"/>
            </a:solidFill>
            <a:prstDash val="sysDash"/>
          </a:ln>
        </p:spPr>
      </p:sp>
      <p:sp>
        <p:nvSpPr>
          <p:cNvPr id="41" name="Text 39"/>
          <p:cNvSpPr/>
          <p:nvPr/>
        </p:nvSpPr>
        <p:spPr>
          <a:xfrm>
            <a:off x="548640" y="3986784"/>
            <a:ext cx="7223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4E79"/>
                </a:solidFill>
              </a:rPr>
              <a:t>Steering  ─  コーディング規約・プロジェクトルールをすべてのフェーズに自動注入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8368" y="4315968"/>
            <a:ext cx="146304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5B2D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04088" y="44805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機能の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要望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121408" y="4754880"/>
            <a:ext cx="146304" cy="0"/>
          </a:xfrm>
          <a:prstGeom prst="line">
            <a:avLst/>
          </a:prstGeom>
          <a:noFill/>
          <a:ln w="12700">
            <a:solidFill>
              <a:srgbClr val="5B2D8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157984" y="46268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D82"/>
                </a:solidFill>
              </a:rPr>
              <a:t>▶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304288" y="4315968"/>
            <a:ext cx="146304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5B2D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350008" y="44805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要件定義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requirements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767328" y="4754880"/>
            <a:ext cx="146304" cy="0"/>
          </a:xfrm>
          <a:prstGeom prst="line">
            <a:avLst/>
          </a:prstGeom>
          <a:noFill/>
          <a:ln w="12700">
            <a:solidFill>
              <a:srgbClr val="5B2D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803904" y="46268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D82"/>
                </a:solidFill>
              </a:rPr>
              <a:t>▶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3950208" y="4315968"/>
            <a:ext cx="146304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5B2D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995928" y="44805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設計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design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5413248" y="4754880"/>
            <a:ext cx="146304" cy="0"/>
          </a:xfrm>
          <a:prstGeom prst="line">
            <a:avLst/>
          </a:prstGeom>
          <a:noFill/>
          <a:ln w="12700">
            <a:solidFill>
              <a:srgbClr val="5B2D82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49824" y="46268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2D82"/>
                </a:solidFill>
              </a:rPr>
              <a:t>▶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5596128" y="4315968"/>
            <a:ext cx="1463040" cy="877824"/>
          </a:xfrm>
          <a:prstGeom prst="rect">
            <a:avLst/>
          </a:prstGeom>
          <a:solidFill>
            <a:srgbClr val="EDE9FE"/>
          </a:solidFill>
          <a:ln w="12700">
            <a:solidFill>
              <a:srgbClr val="5B2D82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5641848" y="4480560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タスク化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5B2D82"/>
                </a:solidFill>
              </a:rPr>
              <a:t>tasks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658368" y="5285232"/>
            <a:ext cx="6400800" cy="658368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822960" y="5376672"/>
            <a:ext cx="6035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3C00"/>
                </a:solidFill>
              </a:rPr>
              <a:t>実装  →  コード / Terraform / 設計書（Steering と Spec に基づきKiroが生成）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3383280" y="5175504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2D82"/>
                </a:solidFill>
              </a:rPr>
              <a:t>▼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8321040" y="3931920"/>
            <a:ext cx="3383280" cy="2340864"/>
          </a:xfrm>
          <a:prstGeom prst="rect">
            <a:avLst/>
          </a:prstGeom>
          <a:solidFill>
            <a:srgbClr val="D1FAE5"/>
          </a:solidFill>
          <a:ln w="12700">
            <a:solidFill>
              <a:srgbClr val="0F7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430768" y="3986784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C5C"/>
                </a:solidFill>
              </a:rPr>
              <a:t>Skills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8430768" y="4279392"/>
            <a:ext cx="31638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#スキル名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 でチャットから呼び出す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8430768" y="4590288"/>
            <a:ext cx="316382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・Spec とは独立して利用可能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・デプロイ手順・トラブルシュート手順
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・ワークスペース / ユーザーレベルで管理</a:t>
            </a:r>
            <a:endParaRPr lang="en-US" sz="1050" dirty="0"/>
          </a:p>
        </p:txBody>
      </p:sp>
      <p:sp>
        <p:nvSpPr>
          <p:cNvPr id="63" name="Text 61"/>
          <p:cNvSpPr/>
          <p:nvPr/>
        </p:nvSpPr>
        <p:spPr>
          <a:xfrm>
            <a:off x="8001000" y="468172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0F7C5C"/>
                </a:solidFill>
              </a:rPr>
              <a:t>← 必要時に連携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8019288" y="4736592"/>
            <a:ext cx="274320" cy="0"/>
          </a:xfrm>
          <a:prstGeom prst="line">
            <a:avLst/>
          </a:prstGeom>
          <a:noFill/>
          <a:ln w="12700">
            <a:solidFill>
              <a:srgbClr val="0F7C5C"/>
            </a:solidFill>
            <a:prstDash val="sys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9144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F8719"/>
                </a:solidFill>
              </a:rPr>
              <a:t>一連の開発フロー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65760" y="493776"/>
            <a:ext cx="11521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各フェーズで Kiro がドラフトを生成 → 人間がレビュー → 修正依頼 or 承認（承認まで反復）→ 次のフェーズへ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11521440" cy="27432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22960"/>
            <a:ext cx="11521440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1248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⚙  Steering ── コーディング規約・AWSポリシー・命名規則等を、すべてのフェーズで自動的にバックグラウンド適用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0040" y="1161288"/>
            <a:ext cx="11521440" cy="768096"/>
          </a:xfrm>
          <a:prstGeom prst="rect">
            <a:avLst/>
          </a:prstGeom>
          <a:solidFill>
            <a:srgbClr val="F4F4F4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1161288"/>
            <a:ext cx="1051560" cy="76809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161288"/>
            <a:ext cx="1051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事前準備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（一度のみ）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417320" y="1289304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17320" y="1289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1673352" y="1252728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Steering ファイルを作成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</a:rPr>
              <a:t>→ 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.kiro/steering/coding-standards.md, terraform-rules.md 等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417320" y="16002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17320" y="1600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1673352" y="1563624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Skills ファイルを作成  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</a:rPr>
              <a:t>→ </a:t>
            </a:r>
            <a:pPr indent="0" marL="0">
              <a:buNone/>
            </a:pPr>
            <a:r>
              <a:rPr lang="en-US" sz="900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.kiro/skills/deploy-procedure.md 等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0040" y="1965960"/>
            <a:ext cx="11521440" cy="58521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1965960"/>
            <a:ext cx="1051560" cy="585216"/>
          </a:xfrm>
          <a:prstGeom prst="rect">
            <a:avLst/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965960"/>
            <a:ext cx="10515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Spec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開始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020824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17320" y="20208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673352" y="1984248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「EC2の起動停止スケジュールを作りたい」など、機能の要望を自然言語でKiroに伝える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417320" y="2295144"/>
            <a:ext cx="201168" cy="201168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295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Kiro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1673352" y="2258568"/>
            <a:ext cx="7973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「Feature or Bugfix?」「Requirements-first or Design-first?」</a:t>
            </a:r>
            <a:pPr indent="0" marL="0">
              <a:buNone/>
            </a:pPr>
            <a:r>
              <a:rPr lang="en-US" sz="1050" dirty="0">
                <a:solidFill>
                  <a:srgbClr val="595959"/>
                </a:solidFill>
              </a:rPr>
              <a:t> を確認し、人間が選択する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0040" y="2587752"/>
            <a:ext cx="115214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2587752"/>
            <a:ext cx="1051560" cy="877824"/>
          </a:xfrm>
          <a:prstGeom prst="rect">
            <a:avLst/>
          </a:prstGeom>
          <a:solidFill>
            <a:srgbClr val="444B54"/>
          </a:solidFill>
          <a:ln w="12700">
            <a:solidFill>
              <a:srgbClr val="444B5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2587752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1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要件定義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417320" y="2660904"/>
            <a:ext cx="201168" cy="201168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417320" y="26609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Kiro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1673352" y="262432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C0A"/>
                </a:solidFill>
              </a:rPr>
              <a:t>requirements.md ドラフト生成（ユーザーストーリー・受け入れ基準）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417320" y="29718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17320" y="2971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1673352" y="293522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レビュー　→　修正依頼 or 承認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1417320" y="326440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417320" y="3264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673352" y="322783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↻ 承認まで Kiro との反復対話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756648" y="2642616"/>
            <a:ext cx="1170432" cy="768096"/>
          </a:xfrm>
          <a:prstGeom prst="rect">
            <a:avLst/>
          </a:prstGeom>
          <a:solidFill>
            <a:srgbClr val="F4F4F4"/>
          </a:solidFill>
          <a:ln w="12700">
            <a:solidFill>
              <a:srgbClr val="444B5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811512" y="2697480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requirements.md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.kiro/specs/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{feature-name}/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0040" y="3502152"/>
            <a:ext cx="115214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3502152"/>
            <a:ext cx="1051560" cy="87782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0040" y="3502152"/>
            <a:ext cx="105156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2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設計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417320" y="3575304"/>
            <a:ext cx="201168" cy="201168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417320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Kiro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1673352" y="353872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C0A"/>
                </a:solidFill>
              </a:rPr>
              <a:t>design.md ドラフト生成（アーキテクチャ・コンポーネント設計・Steering規約を自動考慮）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1417320" y="38862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17320" y="38862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1673352" y="384962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レビュー　→　修正依頼 or 承認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1417320" y="417880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417320" y="41788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1673352" y="414223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↻ 承認まで Kiro との反復対話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9756648" y="3557016"/>
            <a:ext cx="1170432" cy="768096"/>
          </a:xfrm>
          <a:prstGeom prst="rect">
            <a:avLst/>
          </a:prstGeom>
          <a:solidFill>
            <a:srgbClr val="F4F4F4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811512" y="3611880"/>
            <a:ext cx="10972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design.md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（アーキテクチャ図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・データモデル等）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20040" y="4416552"/>
            <a:ext cx="115214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416552"/>
            <a:ext cx="105156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416552"/>
            <a:ext cx="10515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タスク化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1417320" y="4489704"/>
            <a:ext cx="201168" cy="201168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417320" y="4489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Kiro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1673352" y="4453128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C0A"/>
                </a:solidFill>
              </a:rPr>
              <a:t>tasks.md 生成（チェックボックス付きの実装タスクリスト）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1417320" y="4800600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417320" y="48006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1673352" y="4764024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91C1C"/>
                </a:solidFill>
              </a:rPr>
              <a:t>レビュー・承認　↻ 承認まで反復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9756648" y="4471416"/>
            <a:ext cx="1170432" cy="603504"/>
          </a:xfrm>
          <a:prstGeom prst="rect">
            <a:avLst/>
          </a:prstGeom>
          <a:solidFill>
            <a:srgbClr val="F4F4F4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811512" y="452628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tasks.md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320040" y="5166360"/>
            <a:ext cx="1152144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320040" y="5166360"/>
            <a:ext cx="1051560" cy="85953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20040" y="5166360"/>
            <a:ext cx="105156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Phase 4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コード生成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417320" y="5239512"/>
            <a:ext cx="201168" cy="201168"/>
          </a:xfrm>
          <a:prstGeom prst="ellipse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417320" y="523951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Kiro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1673352" y="5202936"/>
            <a:ext cx="79735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5C0A"/>
                </a:solidFill>
              </a:rPr>
              <a:t>tasks.md のタスクを順番に実装（Steering + Spec の内容に基づきコード生成）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1417320" y="5550408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7320" y="555040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72" name="Text 70"/>
          <p:cNvSpPr/>
          <p:nvPr/>
        </p:nvSpPr>
        <p:spPr>
          <a:xfrm>
            <a:off x="1673352" y="5513832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「タスク実行して」と指示（個別 or 一括）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1417320" y="5843016"/>
            <a:ext cx="201168" cy="201168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1417320" y="5843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人間</a:t>
            </a:r>
            <a:endParaRPr lang="en-US" sz="700" dirty="0"/>
          </a:p>
        </p:txBody>
      </p:sp>
      <p:sp>
        <p:nvSpPr>
          <p:cNvPr id="75" name="Text 73"/>
          <p:cNvSpPr/>
          <p:nvPr/>
        </p:nvSpPr>
        <p:spPr>
          <a:xfrm>
            <a:off x="1673352" y="5806440"/>
            <a:ext cx="7973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生成コードをレビュー・確認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756648" y="5221224"/>
            <a:ext cx="1170432" cy="749808"/>
          </a:xfrm>
          <a:prstGeom prst="rect">
            <a:avLst/>
          </a:prstGeom>
          <a:solidFill>
            <a:srgbClr val="F4F4F4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5276088"/>
            <a:ext cx="1097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OUTPUT: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コード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Terraform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設定ファイル等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20040" y="6062472"/>
            <a:ext cx="11521440" cy="310896"/>
          </a:xfrm>
          <a:prstGeom prst="rect">
            <a:avLst/>
          </a:prstGeom>
          <a:solidFill>
            <a:srgbClr val="FCE4D6"/>
          </a:solidFill>
          <a:ln w="12700">
            <a:solidFill>
              <a:srgbClr val="833C0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6108192"/>
            <a:ext cx="11155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33C00"/>
                </a:solidFill>
              </a:rPr>
              <a:t>✓  成果物：コード / Terraform 設定ファイル / 設計書 Markdown 等  ※ デプロイは別途対応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Spec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521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構造化された方法で機能の設計・実装を進める仕組み。各フェーズで人間が承認してから次へ進む。Kiroが勝手に先へ進むことはない。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43000"/>
          <a:ext cx="11521440" cy="4224528"/>
        </p:xfrm>
        <a:graphic>
          <a:graphicData uri="http://schemas.openxmlformats.org/drawingml/2006/table">
            <a:tbl>
              <a:tblPr/>
              <a:tblGrid>
                <a:gridCol w="1280160"/>
                <a:gridCol w="3657600"/>
                <a:gridCol w="4754880"/>
                <a:gridCol w="1828800"/>
              </a:tblGrid>
              <a:tr h="7040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フェーズ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人間の INPUT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の OUTPUT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格納場所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5C0A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開始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機能のラフなアイデア・要望を自然言語で伝える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Spec種別（Feature/Bugfix）とワークフロー（Requirements-first / Design-first）の選択肢を提示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.kiro/specs/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{feature-name}/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要件定義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Kiroが生成した要件ドラフトをレビューし、修正・承認する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requirements.md（ユーザーストーリー・受け入れ基準）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requirements.md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設計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Kiroが生成した設計ドラフトをレビューし、修正・承認する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design.md（アーキテクチャ図・コンポーネント設計・データモデル・Correctness Properties）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design.md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5B2D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タスク化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9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Kiroが生成したタスクリストをレビューし、修正・承認する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tasks.md（チェックボックス付きの実装タスクリスト）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tasks.md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33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コード生成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833C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（実装）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タスク実行を指示する（個別 or 一括）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生成コードをレビュー・確認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コード / Terraform 設定ファイル等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（Steering + Spec の内容に基づき生成）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コードベース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（各ファイル）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20040" y="5449824"/>
            <a:ext cx="11521440" cy="62179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5486400"/>
            <a:ext cx="11247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C2626"/>
                </a:solidFill>
              </a:rPr>
              <a:t>⚠ ポイント：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各フェーズで人間が「承認」してから次に進む。Kiroが勝手に先に進むことはない。
</a:t>
            </a:r>
            <a:pPr indent="0" marL="0">
              <a:buNone/>
            </a:pPr>
            <a:r>
              <a:rPr lang="en-US" sz="1200" b="1" dirty="0">
                <a:solidFill>
                  <a:srgbClr val="4F8719"/>
                </a:solidFill>
              </a:rPr>
              <a:t>💡 補足：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Spec内で </a:t>
            </a:r>
            <a:pPr indent="0" marL="0">
              <a:buNone/>
            </a:pPr>
            <a:r>
              <a:rPr lang="en-US" sz="1100" dirty="0">
                <a:solidFill>
                  <a:srgbClr val="4F871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#[[file:openapi.yaml]]</a:t>
            </a:r>
            <a:pPr indent="0" marL="0">
              <a:buNone/>
            </a:pPr>
            <a:r>
              <a:rPr lang="en-US" sz="1150" dirty="0">
                <a:solidFill>
                  <a:srgbClr val="1A1A1A"/>
                </a:solidFill>
              </a:rPr>
              <a:t> のように外部ファイルを参照可能。既存のAPI仕様書等を活用できる。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Steering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Kiroとのすべて（または特定条件）のやり取りにコンテキスト・指示を注入する仕組み。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チームのコーディング規約・プロジェクト固有ルール・ビルド手順等を定義し、Kiroの出力品質を安定させる。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5303520" cy="219456"/>
          </a:xfrm>
          <a:prstGeom prst="roundRect">
            <a:avLst>
              <a:gd name="adj" fmla="val 20833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全て INPUT — 人間が定義するもの。Kiroは出力を生成しない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定義と適用方法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64792"/>
          <a:ext cx="5394960" cy="1298448"/>
        </p:xfrm>
        <a:graphic>
          <a:graphicData uri="http://schemas.openxmlformats.org/drawingml/2006/table">
            <a:tbl>
              <a:tblPr/>
              <a:tblGrid>
                <a:gridCol w="777240"/>
                <a:gridCol w="2514600"/>
                <a:gridCol w="2103120"/>
              </a:tblGrid>
              <a:tr h="4328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人間の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の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9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.kiro/steering/ に Markdown ファイルを作成・編集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なし（Steeringは人間が定義するもの）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適用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自動適用 / ファイル操作時に自動適用 / # で手動指定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4E7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Steeringの内容を踏まえた応答・コード生成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145536"/>
            <a:ext cx="5394960" cy="274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145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適用モード（3種類）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" y="346557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" y="34655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1417320" y="34838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デフォルト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11480" y="3739896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すべてのやり取りに自動適用。front-matter の inclusion を省略した場合もこのモード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7472" y="4325112"/>
            <a:ext cx="530352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7472" y="437997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0F5C42"/>
          </a:solidFill>
          <a:ln w="12700">
            <a:solidFill>
              <a:srgbClr val="0F5C4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47472" y="43799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fileMatch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1417320" y="43982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ファイル一致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11480" y="4654296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特定パターンのファイルがコンテキストに読み込まれた時のみ自動適用。fileMatchPattern でパターンを指定（例：**/*.tf）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347472" y="5239512"/>
            <a:ext cx="530352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47472" y="5294376"/>
            <a:ext cx="1005840" cy="237744"/>
          </a:xfrm>
          <a:prstGeom prst="roundRect">
            <a:avLst>
              <a:gd name="adj" fmla="val 19231"/>
            </a:avLst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47472" y="529437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manual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417320" y="5312664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</a:rPr>
              <a:t>手動指定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411480" y="5568696"/>
            <a:ext cx="5138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ユーザーがチャットで #ファイル名 と指定した時のみ適用。大量のドキュメント等に適している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035040" y="1764792"/>
            <a:ext cx="5806440" cy="45537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144768" y="184708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.kiro/steering/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6144768" y="224942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coding-standards.md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668512" y="228600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inclusion: auto  ←  TypeScript規約・テスト方針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44768" y="265176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terraform-rules.md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8668512" y="268833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inclusion: fileMatch  ←  Terraform規約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144768" y="305409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8668512" y="309067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fileMatchPattern: "**/*.tf"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6144768" y="345643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aws-policy.md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8668512" y="34930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inclusion: auto  ←  AWSポリシー・命名規則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6144768" y="385876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azure-policy.md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8668512" y="389534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inclusion: fileMatch  ←  Azure規約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144768" y="4261104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8668512" y="429768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 fileMatchPattern: "**/*.bicep"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144768" y="466344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security-policy.md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8668512" y="470001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inclusion: auto  ←  セキュリティ方針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144768" y="5065776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troubleshoot.md</a:t>
            </a:r>
            <a:endParaRPr lang="en-US" sz="900" dirty="0"/>
          </a:p>
        </p:txBody>
      </p:sp>
      <p:sp>
        <p:nvSpPr>
          <p:cNvPr id="45" name="Text 42"/>
          <p:cNvSpPr/>
          <p:nvPr/>
        </p:nvSpPr>
        <p:spPr>
          <a:xfrm>
            <a:off x="8668512" y="51023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inclusion: manual  ←  #troubleshoot で呼び出し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6144768" y="587044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※ front-matter 省略 = auto と同じ動作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Skills とは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Kiroが特定タスクを実行する際に参照する、再利用可能な手順書・ナレッジ。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</a:rPr>
              <a:t>チャットで #スキル名 を指定して呼び出し、Spec とは独立して利用できる。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15568"/>
            <a:ext cx="6583680" cy="219456"/>
          </a:xfrm>
          <a:prstGeom prst="roundRect">
            <a:avLst>
              <a:gd name="adj" fmla="val 20833"/>
            </a:avLst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1556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INPUT（人間が定義）— Spec とは独立して利用できる  /  Copilot 等他ツールとの共有も可能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42646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定義と利用方法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764792"/>
          <a:ext cx="5394960" cy="1298448"/>
        </p:xfrm>
        <a:graphic>
          <a:graphicData uri="http://schemas.openxmlformats.org/drawingml/2006/table">
            <a:tbl>
              <a:tblPr/>
              <a:tblGrid>
                <a:gridCol w="777240"/>
                <a:gridCol w="2697480"/>
                <a:gridCol w="1920240"/>
              </a:tblGrid>
              <a:tr h="43281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項目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人間の INPUT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Kiro の OUTPUT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C5C"/>
                    </a:solidFill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定義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.kiro/skills/ に Markdown ファイルを作成・編集（またはreferrences/にテンプレートを格納）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なし（Skills は人間が定義するもの）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28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利用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チャットで #スキル名 を指定して呼び出す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スキルの手順に従った実行結果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145536"/>
            <a:ext cx="5394960" cy="274320"/>
          </a:xfrm>
          <a:prstGeom prst="rect">
            <a:avLst/>
          </a:prstGeom>
          <a:solidFill>
            <a:srgbClr val="0F5C42"/>
          </a:solidFill>
          <a:ln w="12700">
            <a:solidFill>
              <a:srgbClr val="0F5C4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0040" y="3145536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格納場所（2レベル）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" y="3493008"/>
            <a:ext cx="530352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0F7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57200" y="354787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5C"/>
                </a:solidFill>
              </a:rPr>
              <a:t>ワークスペースレベル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457200" y="380390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7C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200400" y="358444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プロジェクト固有のスキル（Terraform手順・テスト仕様書作成等）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Git管理してチームで共有する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347472" y="4590288"/>
            <a:ext cx="530352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0D4D3A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57200" y="464515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4D3A"/>
                </a:solidFill>
              </a:rPr>
              <a:t>ユーザーレベル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490118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4D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~/.kiro/skills/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3200400" y="4681728"/>
            <a:ext cx="22860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個人・横断的に使うスキル（汎用デプロイ手順・トラブルシュート等）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</a:rPr>
              <a:t>複数プロジェクトをまたいで利用できる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solidFill>
            <a:srgbClr val="1E5C0A"/>
          </a:solidFill>
          <a:ln w="12700">
            <a:solidFill>
              <a:srgbClr val="1E5C0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0" y="1426464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ディレクトリ構成と格納内容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035040" y="1764792"/>
            <a:ext cx="580644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44768" y="183794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144768" y="210312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deploy-procedure/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8851392" y="212140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デプロイ手順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6144768" y="236829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deploy.md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8851392" y="238658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#deploy で呼び出し</a:t>
            </a:r>
            <a:endParaRPr lang="en-US" sz="850" dirty="0"/>
          </a:p>
        </p:txBody>
      </p:sp>
      <p:sp>
        <p:nvSpPr>
          <p:cNvPr id="28" name="Text 25"/>
          <p:cNvSpPr/>
          <p:nvPr/>
        </p:nvSpPr>
        <p:spPr>
          <a:xfrm>
            <a:off x="6144768" y="263347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terraform-patterns/</a:t>
            </a:r>
            <a:endParaRPr lang="en-US" sz="850" dirty="0"/>
          </a:p>
        </p:txBody>
      </p:sp>
      <p:sp>
        <p:nvSpPr>
          <p:cNvPr id="29" name="Text 26"/>
          <p:cNvSpPr/>
          <p:nvPr/>
        </p:nvSpPr>
        <p:spPr>
          <a:xfrm>
            <a:off x="8851392" y="265176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Terraformモジュール参照パターン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6144768" y="289864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terraform.md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851392" y="2916936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#terraform で呼び出し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6144768" y="316382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8851392" y="318211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★ テンプレートはここに格納</a:t>
            </a:r>
            <a:endParaRPr lang="en-US" sz="850" dirty="0"/>
          </a:p>
        </p:txBody>
      </p:sp>
      <p:sp>
        <p:nvSpPr>
          <p:cNvPr id="34" name="Text 31"/>
          <p:cNvSpPr/>
          <p:nvPr/>
        </p:nvSpPr>
        <p:spPr>
          <a:xfrm>
            <a:off x="6144768" y="342900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unit-test-spec/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851392" y="344728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テスト仕様書作成</a:t>
            </a:r>
            <a:endParaRPr lang="en-US" sz="850" dirty="0"/>
          </a:p>
        </p:txBody>
      </p:sp>
      <p:sp>
        <p:nvSpPr>
          <p:cNvPr id="36" name="Text 33"/>
          <p:cNvSpPr/>
          <p:nvPr/>
        </p:nvSpPr>
        <p:spPr>
          <a:xfrm>
            <a:off x="6144768" y="3694176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</p:txBody>
      </p:sp>
      <p:sp>
        <p:nvSpPr>
          <p:cNvPr id="37" name="Text 34"/>
          <p:cNvSpPr/>
          <p:nvPr/>
        </p:nvSpPr>
        <p:spPr>
          <a:xfrm>
            <a:off x="8851392" y="3712464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★ QA表テンプレートはここに格納</a:t>
            </a:r>
            <a:endParaRPr lang="en-US" sz="850" dirty="0"/>
          </a:p>
        </p:txBody>
      </p:sp>
      <p:sp>
        <p:nvSpPr>
          <p:cNvPr id="38" name="Text 35"/>
          <p:cNvSpPr/>
          <p:nvPr/>
        </p:nvSpPr>
        <p:spPr>
          <a:xfrm>
            <a:off x="6144768" y="3959352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design-doc/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8851392" y="3977640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設計書生成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6144768" y="4224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6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references/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8851392" y="4242816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★ 設計書テンプレートはここに格納</a:t>
            </a:r>
            <a:endParaRPr lang="en-US" sz="850" dirty="0"/>
          </a:p>
        </p:txBody>
      </p:sp>
      <p:sp>
        <p:nvSpPr>
          <p:cNvPr id="42" name="Text 39"/>
          <p:cNvSpPr/>
          <p:nvPr/>
        </p:nvSpPr>
        <p:spPr>
          <a:xfrm>
            <a:off x="6144768" y="4489704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drawio-diagram/</a:t>
            </a:r>
            <a:endParaRPr lang="en-US" sz="850" dirty="0"/>
          </a:p>
        </p:txBody>
      </p:sp>
      <p:sp>
        <p:nvSpPr>
          <p:cNvPr id="43" name="Text 40"/>
          <p:cNvSpPr/>
          <p:nvPr/>
        </p:nvSpPr>
        <p:spPr>
          <a:xfrm>
            <a:off x="8851392" y="4507992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draw.io 連携（プラグイン連携例）</a:t>
            </a:r>
            <a:endParaRPr lang="en-US" sz="850" dirty="0"/>
          </a:p>
        </p:txBody>
      </p:sp>
      <p:sp>
        <p:nvSpPr>
          <p:cNvPr id="44" name="Text 41"/>
          <p:cNvSpPr/>
          <p:nvPr/>
        </p:nvSpPr>
        <p:spPr>
          <a:xfrm>
            <a:off x="6144768" y="475488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4B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drawio.md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8851392" y="4773168"/>
            <a:ext cx="2907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VS Code拡張の操作手順を記述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6035040" y="5120640"/>
            <a:ext cx="5806440" cy="292608"/>
          </a:xfrm>
          <a:prstGeom prst="rect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144768" y="5138928"/>
            <a:ext cx="5577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💡 Plug-in 連携（VS Code 拡張 × Skill）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6035040" y="5440680"/>
            <a:ext cx="5806440" cy="822960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144768" y="5468112"/>
            <a:ext cx="5577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MCP非対応ツール（draw.io・PlantUML 等）でも、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操作手順をSKILL.mdに記述することでKiroがVS Code拡張の使い方を理解して指示を出せる。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B21B6"/>
                </a:solidFill>
              </a:rPr>
              <a:t>追加コストゼロ（導入済み拡張を活用）　詳細 → Appendix スライド9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8719"/>
                </a:solidFill>
              </a:rPr>
              <a:t>チーム導入のポイント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1024128"/>
            <a:ext cx="11521440" cy="36576"/>
          </a:xfrm>
          <a:prstGeom prst="rect">
            <a:avLst/>
          </a:prstGeom>
          <a:solidFill>
            <a:srgbClr val="7CB83A"/>
          </a:solidFill>
          <a:ln w="12700">
            <a:solidFill>
              <a:srgbClr val="7CB8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188720"/>
            <a:ext cx="11521440" cy="274320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" y="1216152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21615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58368" y="1216152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Steering の管理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463040"/>
            <a:ext cx="115214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3619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Git管理し、チーム共通の規約として .kiro/steering/ に配置する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195681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E79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PR レビュー対象にすることで、規約変更をチームで合意できる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2450592"/>
            <a:ext cx="11521440" cy="274320"/>
          </a:xfrm>
          <a:prstGeom prst="rect">
            <a:avLst/>
          </a:prstGeom>
          <a:solidFill>
            <a:srgbClr val="5B2D82"/>
          </a:solidFill>
          <a:ln w="12700">
            <a:solidFill>
              <a:srgbClr val="5B2D8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7472" y="2478024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4780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2478024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Spec の粒度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2724912"/>
            <a:ext cx="115214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98064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2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1つの Spec は 1つの機能単位。大きすぎる機能は分割する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1868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2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Spec ドキュメント内で #[[file:openapi.yaml]] のように外部ファイルを参照可能。既存のAPI仕様書等を活用できる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712464"/>
            <a:ext cx="11521440" cy="27432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739896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" y="3739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8368" y="3739896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レビュータイミング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0040" y="3986784"/>
            <a:ext cx="115214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059936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各フェーズ（要件→設計→タスク）の承認前に人間がしっかりレビューする。ここが品質の要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480560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91C1C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Kiroは承認なしに次のフェーズへ進まない。この反復サイクルを省略しない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20040" y="4974336"/>
            <a:ext cx="11521440" cy="274320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" y="5001768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47472" y="50017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8368" y="5001768"/>
            <a:ext cx="10607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Skills の活用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0040" y="5248656"/>
            <a:ext cx="115214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5321808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5C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チーム固有のデプロイ手順・トラブルシュート手順を Skills として共有する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5742432"/>
            <a:ext cx="11247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C5C"/>
                </a:solidFill>
              </a:rPr>
              <a:t>・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</a:rPr>
              <a:t>ワークスペースレベルは Git 管理、ユーザーレベルは個人の汎用スキルに使い分ける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Skills の3分類  ─  全体像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3108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9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05256"/>
            <a:ext cx="11430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005840"/>
            <a:ext cx="512064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64008" cy="12618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069848"/>
            <a:ext cx="4754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2D82"/>
                </a:solidFill>
              </a:rPr>
              <a:t>Skills = 業務マニュアル一式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1353312"/>
            <a:ext cx="47548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4E79"/>
                </a:solidFill>
              </a:rPr>
              <a:t>Steering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が「常識」なら </a:t>
            </a:r>
            <a:pPr indent="0" marL="0">
              <a:buNone/>
            </a:pPr>
            <a:r>
              <a:rPr lang="en-US" sz="1100" b="1" dirty="0">
                <a:solidFill>
                  <a:srgbClr val="0F7C5C"/>
                </a:solidFill>
              </a:rPr>
              <a:t>Skills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は「業務マニュアル」。
</a:t>
            </a:r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手順書・チェックリスト・テンプレート・ドメイン知識・プラグイン連携定義を含む。
</a:t>
            </a:r>
            <a:pPr indent="0" marL="0">
              <a:buNone/>
            </a:pPr>
            <a:r>
              <a:rPr lang="en-US" sz="1100" dirty="0">
                <a:solidFill>
                  <a:srgbClr val="595959"/>
                </a:solidFill>
              </a:rPr>
              <a:t>Spec とは独立して使え、#スキル名 で呼び出す。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760720" y="1005840"/>
            <a:ext cx="6080760" cy="12618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07024" y="1060704"/>
            <a:ext cx="5852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B5FD"/>
                </a:solidFill>
              </a:rPr>
              <a:t>ファイル構造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07024" y="1298448"/>
            <a:ext cx="58338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.kiro/skills/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{スキル名}/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スキル名.md  ← 手順書・チェックリスト・プラグイン連携定義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references/  ← テンプレート・ドメイン知識（任意）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2377440"/>
            <a:ext cx="37490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377440"/>
            <a:ext cx="3749040" cy="329184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42316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7C5C"/>
                </a:solidFill>
              </a:rPr>
              <a:t>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85800" y="243230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既製品スキル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276148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Kiro公式 / コミュニティ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303580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Kiro標準スキルライブラリ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11480" y="354787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コミュニティ公開スキル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11480" y="405993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準備工数ほぼゼロ・即利用可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457200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C5C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社内規約の反映は限定的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5358384"/>
            <a:ext cx="358444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" y="537667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</a:rPr>
              <a:t>例：Kiro 公式 terraform スキル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160520" y="2377440"/>
            <a:ext cx="37490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160520" y="2377440"/>
            <a:ext cx="3749040" cy="329184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251960" y="242316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5196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F4E79"/>
                </a:solidFill>
              </a:rPr>
              <a:t>②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526280" y="243230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チーム自作スキル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251960" y="276148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スキル名.md を自分で記述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51960" y="303580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手順書・チェックリスト・テンプレートを記述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51960" y="354787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references/ に社内フォーマットを格納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51960" y="405993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社内規約・フローを完全反映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51960" y="457200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4E79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Git でバージョン管理・継続改善可能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251960" y="5358384"/>
            <a:ext cx="358444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325112" y="537667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</a:rPr>
              <a:t>例：terraform-deploy / design-doc / rca-report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8001000" y="2377440"/>
            <a:ext cx="3749040" cy="3456432"/>
          </a:xfrm>
          <a:prstGeom prst="rect">
            <a:avLst/>
          </a:prstGeom>
          <a:solidFill>
            <a:srgbClr val="FFFFFF"/>
          </a:solidFill>
          <a:ln w="12700">
            <a:solidFill>
              <a:srgbClr val="5B21B6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001000" y="2377440"/>
            <a:ext cx="374904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092440" y="2423160"/>
            <a:ext cx="237744" cy="23774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92440" y="2423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B21B6"/>
                </a:solidFill>
              </a:rPr>
              <a:t>③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8366760" y="2432304"/>
            <a:ext cx="3328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プラグイン連携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8092440" y="2761488"/>
            <a:ext cx="36027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VS Code 拡張 × Skill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8092440" y="3035808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MCP非対応ツールのブリッジとして機能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8092440" y="3547872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draw.io / PlantUML 等の操作手順を記述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092440" y="4059936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KiroがVS Code拡張の使い方を理解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8092440" y="4572000"/>
            <a:ext cx="36027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B21B6"/>
                </a:solidFill>
              </a:rPr>
              <a:t>▸ </a:t>
            </a:r>
            <a:pPr indent="0" marL="0">
              <a:buNone/>
            </a:pPr>
            <a:r>
              <a:rPr lang="en-US" sz="1050" dirty="0">
                <a:solidFill>
                  <a:srgbClr val="1A1A1A"/>
                </a:solidFill>
              </a:rPr>
              <a:t>追加コストなし（導入済み拡張を活用）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8092440" y="5358384"/>
            <a:ext cx="3584448" cy="384048"/>
          </a:xfrm>
          <a:prstGeom prst="rect">
            <a:avLst/>
          </a:prstGeom>
          <a:solidFill>
            <a:srgbClr val="F4F4F4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165592" y="5376672"/>
            <a:ext cx="3493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</a:rPr>
              <a:t>例：draw.io 図作成スキル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320040" y="5907024"/>
            <a:ext cx="11521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95959"/>
                </a:solidFill>
              </a:rPr>
              <a:t>※ ※ ②自作スキルを中心に整備。①既製品は汎用作業に活用、③プラグイン連携は必要に応じて追加。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41248"/>
          </a:xfrm>
          <a:prstGeom prst="rect">
            <a:avLst/>
          </a:prstGeom>
          <a:solidFill>
            <a:srgbClr val="2D1B6B"/>
          </a:solidFill>
          <a:ln w="12700">
            <a:solidFill>
              <a:srgbClr val="2D1B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548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Appendix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Skills の詳細比較と推奨構成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0515600" y="31089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B5FD"/>
                </a:solidFill>
              </a:rPr>
              <a:t>10 / 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905256"/>
            <a:ext cx="114300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B"/>
                </a:solidFill>
              </a:rPr>
              <a:t>3分類 詳細比較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298448"/>
          <a:ext cx="11521440" cy="2395728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3474720"/>
                <a:gridCol w="2926080"/>
              </a:tblGrid>
              <a:tr h="3992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比較観点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既製品スキル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チーム自作スキル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プラグイン連携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6B"/>
                    </a:solidFill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準備工数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ほぼゼロ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中（スキルファイル作成）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中〜高（動作確認要）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格納内容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提供元が定義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手順書・チェックリスト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テンプレート・ドメイン知識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プラグイン操作手順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社内規約反映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B9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△ 難しい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◎ 完全対応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○ 部分対応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バージョン管理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提供元依存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7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Git管理可能 ★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1FA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5959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拡張バージョン依存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92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主な用途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4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汎用作業の素早い開始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チーム固有フロー自動化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MCP非対応ツール連携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6B"/>
                </a:solidFill>
              </a:rPr>
              <a:t>推奨スキル構成（自作スキル中心）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20040" y="4114800"/>
            <a:ext cx="11521440" cy="0"/>
          </a:xfrm>
          <a:prstGeom prst="line">
            <a:avLst/>
          </a:prstGeom>
          <a:noFill/>
          <a:ln w="12700">
            <a:solidFill>
              <a:srgbClr val="C4B5F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4187952"/>
            <a:ext cx="212140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0040" y="4187952"/>
            <a:ext cx="2121408" cy="292608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11480" y="4233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terraform-deploy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746504" y="4526280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746504" y="452628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5C"/>
                </a:solidFill>
              </a:rPr>
              <a:t>優先: 高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411480" y="47914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plan/apply の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標準実行手順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11480" y="53583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#terraform-deploy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651760" y="4187952"/>
            <a:ext cx="212140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2651760" y="4187952"/>
            <a:ext cx="212140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743200" y="4233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design-doc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078224" y="4526280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078224" y="452628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5C"/>
                </a:solidFill>
              </a:rPr>
              <a:t>優先: 高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743200" y="47914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設計書・レビュー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資料の作成手順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2743200" y="53583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#design-doc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83480" y="4187952"/>
            <a:ext cx="212140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1F4E79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983480" y="4187952"/>
            <a:ext cx="2121408" cy="292608"/>
          </a:xfrm>
          <a:prstGeom prst="rect">
            <a:avLst/>
          </a:prstGeom>
          <a:solidFill>
            <a:srgbClr val="1F4E79"/>
          </a:solidFill>
          <a:ln w="12700">
            <a:solidFill>
              <a:srgbClr val="1F4E79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4920" y="4233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unit-test-spec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409944" y="4526280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409944" y="452628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優先: 中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5074920" y="47914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単体テスト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仕様書の作成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074920" y="53583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#unit-test-spec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7315200" y="4187952"/>
            <a:ext cx="212140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92400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7315200" y="4187952"/>
            <a:ext cx="2121408" cy="292608"/>
          </a:xfrm>
          <a:prstGeom prst="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406640" y="4233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rca-report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8741664" y="4526280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FEF3C7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8741664" y="452628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2400E"/>
                </a:solidFill>
              </a:rPr>
              <a:t>優先: 中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406640" y="47914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インシデント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RCA 報告書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7406640" y="53583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#rca-report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9646920" y="4187952"/>
            <a:ext cx="2121408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0F7C5C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9646920" y="4187952"/>
            <a:ext cx="2121408" cy="292608"/>
          </a:xfrm>
          <a:prstGeom prst="rect">
            <a:avLst/>
          </a:prstGeom>
          <a:solidFill>
            <a:srgbClr val="0F7C5C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9738360" y="4233672"/>
            <a:ext cx="1975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deploy-procedure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11073384" y="4526280"/>
            <a:ext cx="585216" cy="201168"/>
          </a:xfrm>
          <a:prstGeom prst="roundRect">
            <a:avLst>
              <a:gd name="adj" fmla="val 22727"/>
            </a:avLst>
          </a:prstGeom>
          <a:solidFill>
            <a:srgbClr val="DCFCE7"/>
          </a:solidFill>
          <a:ln w="12700">
            <a:solidFill>
              <a:srgbClr val="0F7C5C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11073384" y="4526280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7C5C"/>
                </a:solidFill>
              </a:rPr>
              <a:t>優先: 高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9738360" y="4791456"/>
            <a:ext cx="1975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デプロイ手順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（環境別）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9738360" y="5358384"/>
            <a:ext cx="19751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959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#deploy-procedure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5760720"/>
            <a:ext cx="11521440" cy="384048"/>
          </a:xfrm>
          <a:prstGeom prst="rect">
            <a:avLst/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457200" y="577900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0000"/>
                </a:solidFill>
              </a:rPr>
              <a:t>💡 </a:t>
            </a:r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</a:rPr>
              <a:t>自作Skillsをチーム全員がGitで管理・継続改善することで「育て続けられる業務マニュアル」になる。</a:t>
            </a:r>
            <a:pPr indent="0" marL="0">
              <a:buNone/>
            </a:pPr>
            <a:r>
              <a:rPr lang="en-US" sz="1100" dirty="0">
                <a:solidFill>
                  <a:srgbClr val="5B2D82"/>
                </a:solidFill>
              </a:rPr>
              <a:t> MCPサーバー導入後はSkillsと組み合わせてExcel/PPTXの自動生成も同じ仕組みで実現できる。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2026-04-03T04:38:56Z</dcterms:created>
  <dcterms:modified xsi:type="dcterms:W3CDTF">2026-04-03T04:38:56Z</dcterms:modified>
</cp:coreProperties>
</file>