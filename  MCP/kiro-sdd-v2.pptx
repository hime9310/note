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30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5C0A"/>
                </a:solidFill>
              </a:rPr>
              <a:t>Kiro 3機能と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8719"/>
                </a:solidFill>
              </a:rPr>
              <a:t>仕様駆動開発フロー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Steering / Skills / Spec  ─  準備順序・インプット・コード生成までの一連の流れ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502920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95959"/>
                </a:solidFill>
              </a:rPr>
              <a:t>仕様駆動開発</a:t>
            </a:r>
            <a:r>
              <a:rPr lang="en-US" sz="1200" dirty="0">
                <a:solidFill>
                  <a:srgbClr val="595959"/>
                </a:solidFill>
              </a:rPr>
              <a:t> 導入検討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742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</a:rPr>
              <a:t>2026.04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8719"/>
                </a:solidFill>
              </a:rPr>
              <a:t>目次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155680" cy="566928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62456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4F8719"/>
          </a:solidFill>
          <a:ln w="12700">
            <a:solidFill>
              <a:srgbClr val="4F871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362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統合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81328" y="12984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719"/>
                </a:solidFill>
              </a:rPr>
              <a:t>3つの機能と仕様駆動開発フロー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0" y="12984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95959"/>
                </a:solidFill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Spec とは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19568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95959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Steering とは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0" y="26151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95959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Skills とは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0" y="32735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95959"/>
                </a:solidFill>
              </a:rPr>
              <a:t>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Steering / Skills / Spec — 比較表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0" y="39319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95959"/>
                </a:solidFill>
              </a:rPr>
              <a:t>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59028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ディレクトリ構成（案）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0" y="45902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95959"/>
                </a:solidFill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5138928"/>
            <a:ext cx="11155680" cy="56692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531266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57200" y="5312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Appendix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81328" y="5248656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</a:rPr>
              <a:t>Appendix：Skills の3分類と詳細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0" y="5248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95959"/>
                </a:solidFill>
              </a:rPr>
              <a:t>9–10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1152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719"/>
                </a:solidFill>
              </a:rPr>
              <a:t>3つの機能の役割と順序  /  仕様駆動開発フロー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</a:rPr>
              <a:t>どの機能を先に準備し、どんな指示を出し、Kiroが何を生成して、どこを人間がレビューするか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11521440" cy="27432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32461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93192" y="8686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93192" y="868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88696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152144"/>
            <a:ext cx="18178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チームの「常識」を定義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8510" y="1161288"/>
            <a:ext cx="1233526" cy="21945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248510" y="1161288"/>
            <a:ext cx="1233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一度だけ定義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389888"/>
            <a:ext cx="1785366" cy="21945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11480" y="1389888"/>
            <a:ext cx="17853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94760" y="841248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794760" y="841248"/>
            <a:ext cx="3246120" cy="274320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67912" y="8686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867912" y="868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C5C"/>
                </a:solidFill>
              </a:rPr>
              <a:t>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23944" y="88696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1152144"/>
            <a:ext cx="18178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業務マニュアルを整備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23230" y="1161288"/>
            <a:ext cx="1233526" cy="219456"/>
          </a:xfrm>
          <a:prstGeom prst="roundRect">
            <a:avLst>
              <a:gd name="adj" fmla="val 20833"/>
            </a:avLst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723230" y="1161288"/>
            <a:ext cx="1233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一度だけ整備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86200" y="1389888"/>
            <a:ext cx="1785366" cy="219456"/>
          </a:xfrm>
          <a:prstGeom prst="roundRect">
            <a:avLst>
              <a:gd name="adj" fmla="val 20833"/>
            </a:avLst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886200" y="1389888"/>
            <a:ext cx="17853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9480" y="841248"/>
            <a:ext cx="4526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269480" y="841248"/>
            <a:ext cx="4526280" cy="274320"/>
          </a:xfrm>
          <a:prstGeom prst="rect">
            <a:avLst/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342632" y="8686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342632" y="868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D82"/>
                </a:solidFill>
              </a:rPr>
              <a:t>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98664" y="886968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0920" y="1152144"/>
            <a:ext cx="25347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仕様書を生成→レビュー・承認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940442" y="1161288"/>
            <a:ext cx="1719986" cy="219456"/>
          </a:xfrm>
          <a:prstGeom prst="roundRect">
            <a:avLst>
              <a:gd name="adj" fmla="val 20833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9940442" y="1161288"/>
            <a:ext cx="17199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PJ毎に実施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60920" y="1389888"/>
            <a:ext cx="2489454" cy="219456"/>
          </a:xfrm>
          <a:prstGeom prst="roundRect">
            <a:avLst>
              <a:gd name="adj" fmla="val 20833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360920" y="1389888"/>
            <a:ext cx="2489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Kiro下書き→人間承認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30168" y="107899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4888" y="107899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0040" y="1618488"/>
            <a:ext cx="1152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95959"/>
                </a:solidFill>
              </a:rPr>
              <a:t>準備順序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01568" y="1828800"/>
            <a:ext cx="0" cy="4800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541264" y="1828800"/>
            <a:ext cx="0" cy="4800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7680960" y="1828800"/>
            <a:ext cx="0" cy="4800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9820656" y="1828800"/>
            <a:ext cx="0" cy="4800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ys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1828800"/>
            <a:ext cx="11521440" cy="480060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1261872" y="1828800"/>
            <a:ext cx="2139696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1307592" y="184708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① 事前準備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（一度のみ）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01568" y="1828800"/>
            <a:ext cx="2139696" cy="365760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447288" y="184708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② PJ開始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投入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41264" y="1828800"/>
            <a:ext cx="2139696" cy="365760"/>
          </a:xfrm>
          <a:prstGeom prst="rect">
            <a:avLst/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5586984" y="184708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③ Spec 生成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Kiro が下書き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80960" y="1828800"/>
            <a:ext cx="2139696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7726680" y="184708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④ レビュー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人間が確認・承認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820656" y="1828800"/>
            <a:ext cx="2139696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9866376" y="184708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⑤ コード生成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Kiro が実装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1828800"/>
            <a:ext cx="886968" cy="3657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320040" y="1828800"/>
            <a:ext cx="886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フェーズ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2194560"/>
            <a:ext cx="886968" cy="217627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320040" y="2194560"/>
            <a:ext cx="88696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人 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261872" y="2194560"/>
            <a:ext cx="10698480" cy="217627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320040" y="4370832"/>
            <a:ext cx="11521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320040" y="4370832"/>
            <a:ext cx="886968" cy="2258568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320040" y="4370832"/>
            <a:ext cx="8869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Kiro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261872" y="4370832"/>
            <a:ext cx="10698480" cy="2258568"/>
          </a:xfrm>
          <a:prstGeom prst="rect">
            <a:avLst/>
          </a:prstGeom>
          <a:solidFill>
            <a:srgbClr val="F0FF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1353312" y="23042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①Steering 定義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353312" y="26151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・tech.md（技術スタック）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353312" y="29260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・naming.md（命名規則）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353312" y="32369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・security.md（方針）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353312" y="35478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・aws-policy.md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353312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②Skills 整備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353312" y="41696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・SKILL.md（手順書）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353312" y="448056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・references/（テンプレ）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493008" y="23042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パラメータシートを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3493008" y="26151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specs/pj-xxx/inputs/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493008" y="29260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に配置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493008" y="32369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QA表テンプレを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493008" y="35478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skills/references/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493008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に配置（初回のみ）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474720" y="4151376"/>
            <a:ext cx="2011680" cy="402336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3493008" y="416966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▶指示: 「このパラメータ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シートからSpecを作成して」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32704" y="23042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（Kiroの生成を待つ）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632704" y="26151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5632704" y="29260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生成されたファイルを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5632704" y="32369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確認する準備をする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7772400" y="23042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✔ requirements.md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772400" y="26151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要件の正確性を確認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772400" y="29260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不足があれば修正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7772400" y="32369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✔ design.md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7772400" y="35478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設計の妥当性を確認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7772400" y="385876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✔ tasks.md を承認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7754112" y="4151376"/>
            <a:ext cx="2011680" cy="402336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Text 87"/>
          <p:cNvSpPr/>
          <p:nvPr/>
        </p:nvSpPr>
        <p:spPr>
          <a:xfrm>
            <a:off x="7772400" y="416966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▶指示: 「tasks.mdに基づき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コードを生成して」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912096" y="230428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生成コードを確認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9912096" y="26151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・Terraform構文チェック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9912096" y="292608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・リソース設定値確認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9912096" y="323697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設計書・テスト仕様書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9912096" y="35478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  を確認・受け入れ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1353312" y="44622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起動時にSteering を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353312" y="4754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自動読み込み（always）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1353312" y="504748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Skillsのname+desc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353312" y="534009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だけ読み込み（軽量）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1353312" y="563270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  →本文は呼出時に読込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493008" y="44622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inputs/ を読み込む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3493008" y="4754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Steering 常時参照開始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493008" y="504748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関連 Skills を照合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3493008" y="534009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  →描述に合致した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3493008" y="563270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  　Skill を特定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5614416" y="4453128"/>
            <a:ext cx="2011680" cy="237744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6" name="Text 104"/>
          <p:cNvSpPr/>
          <p:nvPr/>
        </p:nvSpPr>
        <p:spPr>
          <a:xfrm>
            <a:off x="5632704" y="44622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C00"/>
                </a:solidFill>
              </a:rPr>
              <a:t>OUTPUT: requirements.md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5632704" y="47000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└パラメータから転記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5632704" y="499262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└受け入れ基準を生成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614416" y="5276088"/>
            <a:ext cx="2011680" cy="237744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Text 108"/>
          <p:cNvSpPr/>
          <p:nvPr/>
        </p:nvSpPr>
        <p:spPr>
          <a:xfrm>
            <a:off x="5632704" y="528523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C00"/>
                </a:solidFill>
              </a:rPr>
              <a:t>OUTPUT: design.md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5632704" y="552297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└アーキテクチャ設計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5632704" y="581558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└モジュール一覧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614416" y="6099048"/>
            <a:ext cx="2011680" cy="237744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4" name="Text 112"/>
          <p:cNvSpPr/>
          <p:nvPr/>
        </p:nvSpPr>
        <p:spPr>
          <a:xfrm>
            <a:off x="5632704" y="610819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C00"/>
                </a:solidFill>
              </a:rPr>
              <a:t>OUTPUT: tasks.md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5632704" y="634593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└実装タスク（自動）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7772400" y="446227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人間の承認を待機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7772400" y="47548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7772400" y="504748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修正指示があれば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772400" y="534009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  該当ファイルを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7772400" y="563270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  再生成する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9893808" y="4453128"/>
            <a:ext cx="2011680" cy="237744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2" name="Text 120"/>
          <p:cNvSpPr/>
          <p:nvPr/>
        </p:nvSpPr>
        <p:spPr>
          <a:xfrm>
            <a:off x="9912096" y="44622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C00"/>
                </a:solidFill>
              </a:rPr>
              <a:t>OUTPUT: Terraformコード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9912096" y="47000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└AWS / Azure / GCP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9893808" y="4983480"/>
            <a:ext cx="2011680" cy="237744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5" name="Text 123"/>
          <p:cNvSpPr/>
          <p:nvPr/>
        </p:nvSpPr>
        <p:spPr>
          <a:xfrm>
            <a:off x="9912096" y="4992624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C00"/>
                </a:solidFill>
              </a:rPr>
              <a:t>OUTPUT: 設計書 .md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9912096" y="523036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└基本設計書フォーマット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9893808" y="5513832"/>
            <a:ext cx="2011680" cy="237744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8" name="Text 126"/>
          <p:cNvSpPr/>
          <p:nvPr/>
        </p:nvSpPr>
        <p:spPr>
          <a:xfrm>
            <a:off x="9912096" y="5522976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33C00"/>
                </a:solidFill>
              </a:rPr>
              <a:t>OUTPUT: テスト仕様書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9912096" y="57607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└tasks.mdと対応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5586984" y="41148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2D82"/>
                </a:solidFill>
              </a:rPr>
              <a:t>↑Steering常時参照  ↑Skills呼出  ↑inputs/参照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3 3つの機能と仕様駆動開発フロー（統合）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Spec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52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Kiro が「要件→設計→タスク」の3ファイルを</a:t>
            </a:r>
            <a:r>
              <a:rPr lang="en-US" sz="1250" b="1" dirty="0">
                <a:solidFill>
                  <a:srgbClr val="5B2D82"/>
                </a:solidFill>
              </a:rPr>
              <a:t>下書き生成</a:t>
            </a:r>
            <a:r>
              <a:rPr lang="en-US" sz="1250" dirty="0">
                <a:solidFill>
                  <a:srgbClr val="1A1A1A"/>
                </a:solidFill>
              </a:rPr>
              <a:t>し、人間がレビュー・承認してからコード生成へ進む。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パラメータシートや設計書フォーマットを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inputs/</a:t>
            </a:r>
            <a:r>
              <a:rPr lang="en-US" sz="1250" dirty="0">
                <a:solidFill>
                  <a:srgbClr val="1A1A1A"/>
                </a:solidFill>
              </a:rPr>
              <a:t>に置いておくと Kiro が自動転記する。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39496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仕組み（下書き生成 → レビュー → 承認）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50876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requirements.md 生成（Kiro）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1837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EARS記法でユーザーストーリーと受け入れ基準を生成。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2148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inputs/のパラメータシートの要件部分を自動転記する。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267919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design.md 生成（Kiro）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3008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Terraformモジュール一覧・アーキテクチャ構成を生成。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3319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パラメータシートの設定値も自動で整理する。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76472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" y="384962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tasks.md 生成（Kiro）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4178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依存関係を考慮した実装タスクを自動生成。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44897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各タスクをクリックするとKiroが自律的にコードを生成する。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46904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5047488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6576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" y="502005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レビュー・修正・承認（人間）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0" y="5038344"/>
            <a:ext cx="914400" cy="219456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3840480" y="5038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★ 重要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59536" y="5349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3ファイルの内容を確認。不正確な部分を修正する。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" y="56601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承認後に「コードを生成して」と指示して初めて実装へ進む。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1115568"/>
            <a:ext cx="580644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035040" y="1115568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ディレクトリと INPUT/OUTPUT の流れ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1463040"/>
            <a:ext cx="580644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144768" y="1536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.kiro/specs/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1828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pj-aaa/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44768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inputs/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78240" y="2130552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8778240" y="2130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619488" y="21396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★パラメータ・QA表はここ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44768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param_sheet.md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19488" y="243230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パラメータシート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44768" y="2706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qa_table.md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19488" y="2724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QA表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2999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44768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requirements.md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778240" y="3300984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8778240" y="33009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619488" y="3310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Kiroが下書き生成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44768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design.md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78240" y="3593592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8778240" y="35935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619488" y="36027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Kiroが下書き生成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144768" y="3877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tasks.md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778240" y="388620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8778240" y="3886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619488" y="389534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Kiroが下書き生成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44768" y="4462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人間がレビュー・修正・承認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778240" y="4471416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8778240" y="44714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REVIEW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144768" y="5047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Kiroへ指示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19488" y="506577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「コードを生成して」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44768" y="5632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repos/EngRepo/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778240" y="564184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8778240" y="56418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619488" y="56509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Terraformコード生成先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4 Spec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Steering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プロジェクトの規約・方針をMarkdownに書くだけ。毎回説明しなくてもKiroが常に従う。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チームの「常識」を一度定義すれば、全メンバーが同じ品質でコードを生成できる。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029200" cy="21945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全て INPUT — 人間が事前に定義する（一度のみ・以後随時更新）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読み込みモード（4種類）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182880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always — 常時読み込み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2139696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全チャットに自動で含まれる。技術スタック・Terraform規約・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" y="244144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社内環境制限など常に必要な情報を書く。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29809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fileMatch — ファイル一致時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3291840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指定パターン（例：*.tf）のファイル編集時のみ読み込み。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" y="3593592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コンテキスト消費を節約できる。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59936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4151376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6576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413308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auto — AIが自動判断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" y="4443984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Kiroがリクエスト内容から関連ファイルを自動判断して読み込む。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" y="4745736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セキュリティ設計・API設計などの質問時に自動起動。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212080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65760" y="5303520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65760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" y="528523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manual — 手動呼び出し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" y="559612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チャットで #ファイル名 または /コマンドで参照。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" y="5897880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トラブルシューティングなど大量ドキュメントに使う。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ディレクトリ構成と格納内容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1792224"/>
            <a:ext cx="5806440" cy="46085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144768" y="1865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kiro/steering/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2487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tech.md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11312" y="2487168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211312" y="24871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always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4768" y="272491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技術スタック・共通ルール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AWSリージョン・Terraform Ver・モジュール利用ルール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44768" y="3108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naming.md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11312" y="3108960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8211312" y="31089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fileMatch:*.tf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44768" y="334670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Terraform命名規則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変数名規約・必須タグ定義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44768" y="3730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security.md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11312" y="3730752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8211312" y="3730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auto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44768" y="39684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セキュリティ方針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IAM/KMS/VPC/SG規約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44768" y="4352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aws-policy.md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11312" y="4352544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8211312" y="43525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fileMatch:*.tf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44768" y="45902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AWSリソース設計方針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EC2/S3/VPCポリシー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44768" y="49743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env-limits.md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11312" y="4974336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8211312" y="49743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always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4768" y="5212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社内環境制限・制約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外部通信・AMI・インスタンス制限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144768" y="5596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troubleshoot.md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11312" y="5596128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8211312" y="55961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manual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44768" y="58338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トラブルシュート手順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#troubleshoot で呼び出し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5 Steering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Skills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リクエスト合致時に SKILL.md 全文を読み込む「業務マニュアル」。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Steering が「常識」なら Skills は「手順書・テンプレート・チェックリスト・ドメイン知識」の一式。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7132320" cy="219456"/>
          </a:xfrm>
          <a:prstGeom prst="roundRect">
            <a:avLst>
              <a:gd name="adj" fmla="val 20833"/>
            </a:avLst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INPUT（手順書 + テンプレート + チェックリスト + プラグイン連携定義）— Copilot 等と共有可能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読み込みフロー（4ステップ）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1828800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Kiro 起動時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213969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全Skillのname + descriptionのみ読み込み（本文は読まない→軽量）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29809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リクエスト照合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32918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ユーザーのリクエストとdescriptionを照合して関連するSkillを特定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59936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4151376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" y="413308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全文読み込み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44439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一致したSkillのSKILL.md全文をコンテキストに読み込み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5212080"/>
            <a:ext cx="53949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5303520"/>
            <a:ext cx="310896" cy="310896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65760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" y="528523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719"/>
                </a:solidFill>
              </a:rPr>
              <a:t>references/ 参照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559612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SKILL.mdが指示した時のみ references/ 内のファイルを追加読込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★テンプレート・QA表・設計書フォーマットはここに格納する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</a:rPr>
              <a:t>呼び出し方：/スラッシュコマンド ／ 明示的に「○○Skillを使って」と指示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ディレクトリ構成と格納内容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1792224"/>
            <a:ext cx="5806440" cy="33101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144768" y="1865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kiro/skills/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4768" y="2185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terraform-patterns/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42832" y="220370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モジュール参照パターン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44768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42832" y="252374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手順書（必須・名前固定）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44768" y="2825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 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42832" y="284378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Terraformテンプレート格納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44768" y="3145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unit-test-spec/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42832" y="316382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テスト仕様書作成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44768" y="3465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 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42832" y="348386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QA表テンプレート格納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44768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design-doc/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42832" y="380390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設計書生成指示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44768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 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42832" y="412394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設計書テンプレート格納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44768" y="4425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drawio-diagram/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942832" y="444398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draw.io 操作手順（プラグイン連携）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44768" y="4745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SKILL.md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42832" y="476402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VS Code拡張の使い方を記述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5157216"/>
            <a:ext cx="5806440" cy="329184"/>
          </a:xfrm>
          <a:prstGeom prst="rect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6144768" y="51755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Plug-in 連携（VS Code 拡張 × Skill）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035040" y="5504688"/>
            <a:ext cx="5806440" cy="98755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6144768" y="553212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MCP非対応ツール（draw.io / PlantUML 等）でも
</a:t>
            </a:r>
            <a:r>
              <a:rPr lang="en-US" sz="1050" b="1" dirty="0">
                <a:solidFill>
                  <a:srgbClr val="5B2D82"/>
                </a:solidFill>
              </a:rPr>
              <a:t>操作手順を SKILL.md に記述 </a:t>
            </a:r>
            <a:r>
              <a:rPr lang="en-US" sz="1050" dirty="0">
                <a:solidFill>
                  <a:srgbClr val="000000"/>
                </a:solidFill>
              </a:rPr>
              <a:t>→ Kiro がそのVS Code拡張の使い方を理解した上で指示を出せる
</a:t>
            </a:r>
            <a:r>
              <a:rPr lang="en-US" sz="1050" dirty="0">
                <a:solidFill>
                  <a:srgbClr val="5B21B6"/>
                </a:solidFill>
              </a:rPr>
              <a:t>追加コストゼロ（導入済み拡張を活用）　詳細 → Appendix スライド9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6 Skills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Steering / Skills / Spec — 比較表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528523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観点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Steering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準備タイミング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PJ開始前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（一度定義・随時更新）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PJ開始前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（一度整備・再利用）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（Kiroが下書き生成）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人間が定義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手順書・テンプレ格納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Kiro→下書きOUTPUT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人間レビュー後→INPUT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AIの行動規範を定義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専門手順を必要時に提供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機能実装の設計図作成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読み込みタイミング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設定条件で常時 or 自動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リクエストに合致した時だけ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明示的に作成・参照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ファイル形式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任意名の .md ファイル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SKILL.md（固定）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references/ ディレクトリ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design.md / tasks.md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他ツール互換性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Kiro専用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（AGENTS.mdは互換あり）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Copilot等とも共有可能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再利用しやすい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Kiro専用形式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コンテキスト消費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常に消費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（always設定の場合）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必要時のみ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コンテキスト節約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作業中のみ参照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7 比較表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8719"/>
                </a:solidFill>
              </a:rPr>
              <a:t>Kiro 導入時のディレクトリ構成（案）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</a:rPr>
              <a:t>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109728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017520" y="1097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OUTPUT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86200" y="11155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</a:rPr>
              <a:t>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5000" y="109728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15000" y="1097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REF（参照専用）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0" y="11155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</a:rPr>
              <a:t>REF（参照専用）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12480" y="109728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412480" y="1097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WORK（作業・一時）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281160" y="11155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</a:rPr>
              <a:t>WORK（作業・一時）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399032"/>
            <a:ext cx="68580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147218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31920" y="147218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Kiro WorkSpaceルート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16916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31920" y="16916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Kiro設定（基本触らない）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911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settings/mcp.json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130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08960" y="2130552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108960" y="21305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31920" y="213055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チーム規約（一度定義）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35000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tech.md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256946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naming.md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7889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security.md 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008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skills/ ②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0" y="3008376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108960" y="300837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0" y="300837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業務マニュアル一式（再利用）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2278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{skill}/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31920" y="32278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SKILL.md + references/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3447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specs/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08960" y="3447288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3108960" y="34472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WORK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931920" y="3447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Spec作業場（PJ毎に作成）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366674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38862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inputs/ ★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08960" y="3886200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3108960" y="388620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931920" y="38862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パラメータシート・QA表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1056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requirements.md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08960" y="4105656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3108960" y="410565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931920" y="410565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Kiroが下書き生成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4325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design.md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08960" y="4325112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3108960" y="43251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7200" y="4544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tasks.md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108960" y="4544568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3108960" y="454456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931920" y="454456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承認後→コード生成指示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" y="4764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repos/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08960" y="4764024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3108960" y="476402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REF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931920" y="476402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既存リポ（変更しない）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9834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EngRepo/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57200" y="5202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output/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108960" y="5202936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3108960" y="52029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931920" y="520293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生成成果物（ローカル）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7200" y="542239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pj-xxx/{excel,pptx}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931920" y="54223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MCP連携で生成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7200" y="5641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adhoc/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108960" y="5641848"/>
            <a:ext cx="749808" cy="164592"/>
          </a:xfrm>
          <a:prstGeom prst="roundRect">
            <a:avLst>
              <a:gd name="adj" fmla="val 16667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3108960" y="564184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WORK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931920" y="564184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都度作業・調査用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498080" y="1399032"/>
            <a:ext cx="4434840" cy="292608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7498080" y="13990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サーバー（将来拡張）</a:t>
            </a:r>
            <a:endParaRPr lang="en-US" sz="11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19072"/>
          <a:ext cx="443484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種別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Python(pip)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社内Excelテンプレートで設計書作成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Python(pip)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社内PPTテンプレートで報告・提案資料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(AWS公式)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Node.js(npm)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コード生成・リリース定義参照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7498080" y="3639312"/>
            <a:ext cx="4434840" cy="292608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1"/>
          <p:cNvSpPr/>
          <p:nvPr/>
        </p:nvSpPr>
        <p:spPr>
          <a:xfrm>
            <a:off x="7498080" y="36393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/ OUTPUT まとめ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552944" y="400507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Text 73"/>
          <p:cNvSpPr/>
          <p:nvPr/>
        </p:nvSpPr>
        <p:spPr>
          <a:xfrm>
            <a:off x="7552944" y="40050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8321040" y="39867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Steering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9912096" y="3986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チーム規約・方針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552944" y="440740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7"/>
          <p:cNvSpPr/>
          <p:nvPr/>
        </p:nvSpPr>
        <p:spPr>
          <a:xfrm>
            <a:off x="7552944" y="44074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832104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Skills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9912096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手順書＋テンプレート格納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7552944" y="480974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1"/>
          <p:cNvSpPr/>
          <p:nvPr/>
        </p:nvSpPr>
        <p:spPr>
          <a:xfrm>
            <a:off x="7552944" y="48097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321040" y="4791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specs/inputs/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9912096" y="4791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パラメータシート・QA表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7552944" y="52120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85"/>
          <p:cNvSpPr/>
          <p:nvPr/>
        </p:nvSpPr>
        <p:spPr>
          <a:xfrm>
            <a:off x="7552944" y="52120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8321040" y="5193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Spec 3ファイル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9912096" y="5193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Kiroが下書き生成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7552944" y="561441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89"/>
          <p:cNvSpPr/>
          <p:nvPr/>
        </p:nvSpPr>
        <p:spPr>
          <a:xfrm>
            <a:off x="7552944" y="56144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8321040" y="5596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Terraform等</a:t>
            </a:r>
            <a:endParaRPr lang="en-US" sz="1000" dirty="0"/>
          </a:p>
        </p:txBody>
      </p:sp>
      <p:sp>
        <p:nvSpPr>
          <p:cNvPr id="94" name="Text 91"/>
          <p:cNvSpPr/>
          <p:nvPr/>
        </p:nvSpPr>
        <p:spPr>
          <a:xfrm>
            <a:off x="9912096" y="5596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承認後にKiroが自動生成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7552944" y="601675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Text 93"/>
          <p:cNvSpPr/>
          <p:nvPr/>
        </p:nvSpPr>
        <p:spPr>
          <a:xfrm>
            <a:off x="7552944" y="6016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8321040" y="5998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output/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9912096" y="5998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Excel/PPTX成果物</a:t>
            </a:r>
            <a:endParaRPr lang="en-US" sz="950" dirty="0"/>
          </a:p>
        </p:txBody>
      </p:sp>
      <p:sp>
        <p:nvSpPr>
          <p:cNvPr id="99" name="Shape 96"/>
          <p:cNvSpPr/>
          <p:nvPr/>
        </p:nvSpPr>
        <p:spPr>
          <a:xfrm>
            <a:off x="7552944" y="64190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Text 97"/>
          <p:cNvSpPr/>
          <p:nvPr/>
        </p:nvSpPr>
        <p:spPr>
          <a:xfrm>
            <a:off x="7552944" y="64190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REF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8321040" y="6400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repos/</a:t>
            </a:r>
            <a:endParaRPr lang="en-US" sz="1000" dirty="0"/>
          </a:p>
        </p:txBody>
      </p:sp>
      <p:sp>
        <p:nvSpPr>
          <p:cNvPr id="102" name="Text 99"/>
          <p:cNvSpPr/>
          <p:nvPr/>
        </p:nvSpPr>
        <p:spPr>
          <a:xfrm>
            <a:off x="9912096" y="6400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</a:rPr>
              <a:t>既存リポ・参照専用</a:t>
            </a:r>
            <a:endParaRPr lang="en-US" sz="950" dirty="0"/>
          </a:p>
        </p:txBody>
      </p:sp>
      <p:sp>
        <p:nvSpPr>
          <p:cNvPr id="103" name="Text 100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8 ディレクトリ構成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77824"/>
          </a:xfrm>
          <a:prstGeom prst="rect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Skills の3分類  ─  全体像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</a:rPr>
              <a:t>スライド 9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11430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6400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75488" y="111556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2"/>
                </a:solidFill>
              </a:rPr>
              <a:t>Skills = 業務マニュアル一式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4264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Steering</a:t>
            </a:r>
            <a:r>
              <a:rPr lang="en-US" sz="1100" dirty="0">
                <a:solidFill>
                  <a:srgbClr val="1A1A1A"/>
                </a:solidFill>
              </a:rPr>
              <a:t>が「常識」なら </a:t>
            </a:r>
            <a:r>
              <a:rPr lang="en-US" sz="1100" b="1" dirty="0">
                <a:solidFill>
                  <a:srgbClr val="5B2D82"/>
                </a:solidFill>
              </a:rPr>
              <a:t>Skills</a:t>
            </a:r>
            <a:r>
              <a:rPr lang="en-US" sz="1100" dirty="0">
                <a:solidFill>
                  <a:srgbClr val="1A1A1A"/>
                </a:solidFill>
              </a:rPr>
              <a:t>は「業務マニュアル」
手順書・チェックリスト・テンプレート・ドメイン知識・</a:t>
            </a:r>
            <a:r>
              <a:rPr lang="en-US" sz="1100" b="1" dirty="0">
                <a:solidFill>
                  <a:srgbClr val="1A1A1A"/>
                </a:solidFill>
              </a:rPr>
              <a:t>プラグイン連携定義</a:t>
            </a:r>
            <a:r>
              <a:rPr lang="en-US" sz="1100" dirty="0">
                <a:solidFill>
                  <a:srgbClr val="1A1A1A"/>
                </a:solidFill>
              </a:rPr>
              <a:t>を全て含む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051560"/>
            <a:ext cx="608076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907024" y="10972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ファイル構造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07024" y="1353312"/>
            <a:ext cx="58338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{スキル名}/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      ← 手順書・チェックリスト・プラグイン連携定義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   ← テンプレート・ドメイン知識・QA表（任意）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37490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20040" y="2450592"/>
            <a:ext cx="3749040" cy="347472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11480" y="250545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1148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C5C"/>
                </a:solidFill>
              </a:rPr>
              <a:t>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既製品スキル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85292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C5C"/>
                </a:solidFill>
              </a:rPr>
              <a:t>Kiro公式 / コミュニティ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127248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Kiro標準スキルライブラリ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657600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コミュニティ公開スキル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18795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準備工数ほぼゼロ・即利用可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7183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社内規約の反映は限定的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5468112"/>
            <a:ext cx="358444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84632" y="54864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</a:rPr>
              <a:t>例：Kiro 公式 terraform スキル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2450592"/>
            <a:ext cx="37490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4160520" y="2450592"/>
            <a:ext cx="37490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251960" y="250545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25196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251460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チーム自作スキル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51960" y="285292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SKILL.md を自分で記述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51960" y="3127248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手順書・チェックリスト・ドメイン知識を記述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51960" y="3657600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references/ に社内テンプレートを格納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51960" y="418795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社内規約・フローを完全反映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51960" y="47183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Git でバージョン管理・継続改善可能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5468112"/>
            <a:ext cx="358444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325112" y="54864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</a:rPr>
              <a:t>例：terraform-deploy / design-doc / rca-report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01000" y="2450592"/>
            <a:ext cx="37490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1B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8001000" y="2450592"/>
            <a:ext cx="374904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8092440" y="250545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09244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</a:rPr>
              <a:t>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66760" y="251460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プラグイン連携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92440" y="285292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</a:rPr>
              <a:t>VS Code 拡張 × Skill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92440" y="3127248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MCP非対応ツールのブリッジとして機能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92440" y="3657600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draw.io・PlantUML等の操作手順をSKILL.mdに記述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92440" y="418795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Kiroがそのプラグインの使い方を理解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092440" y="47183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r>
              <a:rPr lang="en-US" sz="1050" dirty="0">
                <a:solidFill>
                  <a:srgbClr val="1A1A1A"/>
                </a:solidFill>
              </a:rPr>
              <a:t>追加コストなし（導入済み拡張を活用）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92440" y="5468112"/>
            <a:ext cx="358444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165592" y="54864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</a:rPr>
              <a:t>例：draw.io 図作成スキル / PlantUML 連携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0040" y="603504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</a:rPr>
              <a:t>※ CMSチームは②自作スキルを中心に整備。①既製品は汎用作業に活用、③プラグイン連携は必要に応じて追加。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Appendix — Skills 3分類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77824"/>
          </a:xfrm>
          <a:prstGeom prst="rect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Skills の詳細比較と CMSチーム推奨構成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3291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B5FD"/>
                </a:solidFill>
              </a:rPr>
              <a:t>スライド 10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11430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B"/>
                </a:solidFill>
              </a:rPr>
              <a:t>3分類 詳細比較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11521440" cy="25054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5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比較観点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既製品スキル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チーム自作スキル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プラグイン連携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準備工数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ほぼゼロ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中（SKILL.md作成）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中〜高（動作確認要）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格納内容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提供元が定義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手順書・チェックリスト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テンプレート・ドメイン知識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プラグイン操作手順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社内規約反映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難しい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完全対応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部分対応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バージョン管理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提供元依存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Git管理可能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拡張バージョン依存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汎用作業の素早い開始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チーム固有フロー自動化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MCP非対応ツール連携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968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B"/>
                </a:solidFill>
              </a:rPr>
              <a:t>CMSチーム 推奨スキル構成（自作スキル中心）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4270248"/>
            <a:ext cx="1152144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8"/>
          <p:cNvSpPr/>
          <p:nvPr/>
        </p:nvSpPr>
        <p:spPr>
          <a:xfrm>
            <a:off x="320040" y="4352544"/>
            <a:ext cx="212140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20040" y="4352544"/>
            <a:ext cx="2121408" cy="310896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11480" y="43982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terraform-deploy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746504" y="4700016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746504" y="470001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C5C"/>
                </a:solidFill>
              </a:rPr>
              <a:t>優先: 高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1480" y="497433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plan/apply 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標準実行手順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55229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SKILL.md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+ references/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642616" y="4352544"/>
            <a:ext cx="212140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2642616" y="4352544"/>
            <a:ext cx="2121408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2734056" y="43982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design-doc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069080" y="4700016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4069080" y="470001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C5C"/>
                </a:solidFill>
              </a:rPr>
              <a:t>優先: 高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34056" y="497433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設計書・レビュー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資料の作成手順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34056" y="55229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SKILL.md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+ references/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965192" y="4352544"/>
            <a:ext cx="212140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4965192" y="4352544"/>
            <a:ext cx="2121408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5056632" y="43982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unit-test-spec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91656" y="4700016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/>
          <p:cNvSpPr/>
          <p:nvPr/>
        </p:nvSpPr>
        <p:spPr>
          <a:xfrm>
            <a:off x="6391656" y="470001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</a:rPr>
              <a:t>優先: 中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56632" y="497433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単体テスト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仕様書の作成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56632" y="55229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SKILL.md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+ references/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287768" y="4352544"/>
            <a:ext cx="212140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0"/>
          <p:cNvSpPr/>
          <p:nvPr/>
        </p:nvSpPr>
        <p:spPr>
          <a:xfrm>
            <a:off x="7287768" y="4352544"/>
            <a:ext cx="212140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1"/>
          <p:cNvSpPr/>
          <p:nvPr/>
        </p:nvSpPr>
        <p:spPr>
          <a:xfrm>
            <a:off x="7379208" y="43982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rca-report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714232" y="4700016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3"/>
          <p:cNvSpPr/>
          <p:nvPr/>
        </p:nvSpPr>
        <p:spPr>
          <a:xfrm>
            <a:off x="8714232" y="470001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</a:rPr>
              <a:t>優先: 中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379208" y="497433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インシデント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RCA 報告書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379208" y="55229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SKILL.md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+ references/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610344" y="4352544"/>
            <a:ext cx="212140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7"/>
          <p:cNvSpPr/>
          <p:nvPr/>
        </p:nvSpPr>
        <p:spPr>
          <a:xfrm>
            <a:off x="9610344" y="4352544"/>
            <a:ext cx="2121408" cy="310896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8"/>
          <p:cNvSpPr/>
          <p:nvPr/>
        </p:nvSpPr>
        <p:spPr>
          <a:xfrm>
            <a:off x="9701784" y="43982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parameter-sheet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1036808" y="4700016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0F7C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0"/>
          <p:cNvSpPr/>
          <p:nvPr/>
        </p:nvSpPr>
        <p:spPr>
          <a:xfrm>
            <a:off x="11036808" y="470001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C5C"/>
                </a:solidFill>
              </a:rPr>
              <a:t>優先: 高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701784" y="4974336"/>
            <a:ext cx="1975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パラメータシート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作成・確認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701784" y="552297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SKILL.md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</a:rPr>
              <a:t>+ references/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20040" y="5980176"/>
            <a:ext cx="11521440" cy="42062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4"/>
          <p:cNvSpPr/>
          <p:nvPr/>
        </p:nvSpPr>
        <p:spPr>
          <a:xfrm>
            <a:off x="457200" y="59984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r>
              <a:rPr lang="en-US" sz="1100" dirty="0">
                <a:solidFill>
                  <a:srgbClr val="1A1A1A"/>
                </a:solidFill>
              </a:rPr>
              <a:t>自作Skillsはチーム全員がGitでバージョン管理し継続的に改善することで「育て続けられる業務マニュアル」になる。</a:t>
            </a:r>
            <a:r>
              <a:rPr lang="en-US" sz="1100" dirty="0">
                <a:solidFill>
                  <a:srgbClr val="5B2D82"/>
                </a:solidFill>
              </a:rPr>
              <a:t> MCPサーバー導入後はSkillsと組み合わせてExcel/PPTXの自動生成も同じ仕組みで実現できる。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20040" y="6583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</a:rPr>
              <a:t>Appendix — Skills 詳細比較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400800" y="65836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2007</Words>
  <Application>Microsoft Macintosh PowerPoint</Application>
  <PresentationFormat>ワイド画面</PresentationFormat>
  <Paragraphs>510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Kiro 3機能と仕様駆動開発フロー v2</dc:title>
  <dc:subject>PptxGenJS Presentation</dc:subject>
  <dc:creator>PptxGenJS</dc:creator>
  <cp:lastModifiedBy>暁せん 姫</cp:lastModifiedBy>
  <cp:revision>3</cp:revision>
  <dcterms:created xsi:type="dcterms:W3CDTF">2026-04-03T03:48:13Z</dcterms:created>
  <dcterms:modified xsi:type="dcterms:W3CDTF">2026-04-03T03:51:49Z</dcterms:modified>
</cp:coreProperties>
</file>