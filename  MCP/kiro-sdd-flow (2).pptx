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EBF6D9"/>
          </a:solidFill>
          <a:ln w="12700">
            <a:solidFill>
              <a:srgbClr val="EBF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5C0A"/>
                </a:solidFill>
              </a:rPr>
              <a:t>Kiro 3機能と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8719"/>
                </a:solidFill>
              </a:rPr>
              <a:t>仕様駆動開発フロー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Steering / Skills / Spec — インプット・プロセス・アウトプット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48640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CMSチーム 仕様駆動開発 導入検討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2026.04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719"/>
                </a:solidFill>
              </a:rPr>
              <a:t>目次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709928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930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3つの機能 — 全体像と役割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0" y="12893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0515600" cy="530352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92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719"/>
                </a:solidFill>
              </a:rPr>
              <a:t>★ NEW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874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719"/>
                </a:solidFill>
              </a:rPr>
              <a:t>仕様駆動開発フロー（INPUT / OUTPUT）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07040" y="18745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973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Spec とは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07040" y="2459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4495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Steering とは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0" y="3044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050792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30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Skills とは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07040" y="3630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636008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1538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Steering / Skills / Spec — 比較表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07040" y="42153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5221224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ディレクトリ構成（案）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60704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5806440"/>
            <a:ext cx="10515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38581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検討事項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07040" y="53858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10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3つの機能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全体像と役割 — それぞれがINPUTかOUTPUTか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3749040" cy="5257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3749040" cy="49377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Spec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案件別の要件・設計・タスク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3C00"/>
                </a:solidFill>
              </a:rPr>
              <a:t>OUTPUT（Kiroが生成）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requirements.md: 要件・受入基準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design.md: 技術設計・構成図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tasks.md: 実装タスク一覧（自動生成）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0448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→ パラメータシートの内容を転記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115568"/>
            <a:ext cx="3749040" cy="5257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115568"/>
            <a:ext cx="3749040" cy="49377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1704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Steering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5196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AIへの「常識」インプット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01168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INPUT（人間が事前定義）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4231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tech.md: 技術スタック・Terraform規約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29169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naming.md: 命名規則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34107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security.md: セキュリティ方針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90448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aws-policy.md: AWSポリシー（*.tfに自動適用）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1115568"/>
            <a:ext cx="3749040" cy="52578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01000" y="1115568"/>
            <a:ext cx="3749040" cy="49377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11704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Skills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92440" y="1664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オンデマンド専門知識パッケージ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2011680"/>
            <a:ext cx="3566160" cy="274320"/>
          </a:xfrm>
          <a:prstGeom prst="roundRect">
            <a:avLst>
              <a:gd name="adj" fmla="val 16667"/>
            </a:avLst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INPUT（テンプレート格納）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24231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SKILL.md: 手順書（ファイル名固定）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29169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references/: テンプレートを格納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34107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→ パラメータシートのテンプレ置き場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90448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719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→ QA表テンプレートの置き場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6400800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</a:rPr>
              <a:t>※ Steering・Skillsは「事前に人間が設定するINPUT」、Specは「Kiroが仕様書を自動生成するOUTPUT」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3 仕様駆動開発フロー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仕様駆動開発フロー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インプット情報の配置と成果物の流れ — どこに何を置いてKiroに何を生成させるか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143000"/>
            <a:ext cx="347472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70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人間が事前に用意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60520" y="1143000"/>
            <a:ext cx="3931920" cy="384048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170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13716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Kiroの3機能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49640" y="1143000"/>
            <a:ext cx="3383280" cy="384048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170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49640" y="13716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Kiroが自動生成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67328" y="3154680"/>
            <a:ext cx="329184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3090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85632" y="3154680"/>
            <a:ext cx="329184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68512" y="30906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1627632"/>
            <a:ext cx="347472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📊 パラメータシート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1975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.xlsx / 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31136"/>
            <a:ext cx="32918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24942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.kiro/specs/pj-xxx/inputs/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834640"/>
            <a:ext cx="347472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📋 QA表テンプレート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.md / .xlsx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32918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45643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.kiro/skills/unit-test/references/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041648"/>
            <a:ext cx="347472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📝 チーム規約・方針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.md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645152"/>
            <a:ext cx="32918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6634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.kiro/steering/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" y="5248656"/>
            <a:ext cx="347472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5321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📐 設計書テンプレート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5596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.md / .xlsx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5852160"/>
            <a:ext cx="32918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5870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.kiro/skills/design-doc/references/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60520" y="1627632"/>
            <a:ext cx="3931920" cy="1225296"/>
          </a:xfrm>
          <a:prstGeom prst="rect">
            <a:avLst/>
          </a:prstGeom>
          <a:solidFill>
            <a:srgbClr val="EBF6D9"/>
          </a:solidFill>
          <a:ln w="12700">
            <a:solidFill>
              <a:srgbClr val="4F871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60520" y="1627632"/>
            <a:ext cx="3931920" cy="347472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Steering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BF6D9"/>
                </a:solidFill>
              </a:rPr>
              <a:t>常時読み込み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97680" y="20482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チーム規約・命名規則・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AWSポリシーを常にAIに適用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9788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719"/>
                </a:solidFill>
              </a:rPr>
              <a:t>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60520" y="2999232"/>
            <a:ext cx="3931920" cy="1225296"/>
          </a:xfrm>
          <a:prstGeom prst="rect">
            <a:avLst/>
          </a:prstGeom>
          <a:solidFill>
            <a:srgbClr val="EBF6D9"/>
          </a:solidFill>
          <a:ln w="12700">
            <a:solidFill>
              <a:srgbClr val="4F871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60520" y="2999232"/>
            <a:ext cx="3931920" cy="347472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3063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BF6D9"/>
                </a:solidFill>
              </a:rPr>
              <a:t>リクエスト合致時のみ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297680" y="34198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SKILL.md全文を読み込み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references/のテンプレートも参照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9788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719"/>
                </a:solidFill>
              </a:rPr>
              <a:t>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160520" y="4370832"/>
            <a:ext cx="3931920" cy="1225296"/>
          </a:xfrm>
          <a:prstGeom prst="rect">
            <a:avLst/>
          </a:prstGeom>
          <a:solidFill>
            <a:srgbClr val="EBF6D9"/>
          </a:solidFill>
          <a:ln w="12700">
            <a:solidFill>
              <a:srgbClr val="4F871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60520" y="4370832"/>
            <a:ext cx="3931920" cy="347472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83680" y="4434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BF6D9"/>
                </a:solidFill>
              </a:rPr>
              <a:t>Kiroが能動的に生成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297680" y="47914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requirements.md→design.md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→tasks.mdの順に自動生成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49640" y="1627632"/>
            <a:ext cx="338328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686800" y="1700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C00"/>
                </a:solidFill>
              </a:rPr>
              <a:t>📄 requirements.md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686800" y="1975104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1975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Spec生成物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686800" y="22311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EARS記法ユーザーストーリー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受け入れ基準・要件一覧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49640" y="2834640"/>
            <a:ext cx="338328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6868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C00"/>
                </a:solidFill>
              </a:rPr>
              <a:t>📐 design.md + tasks.md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686800" y="318211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3182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Spec生成物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686800" y="34381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技術設計・シーケンス図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実装タスク一覧（チェックボックス）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549640" y="4041648"/>
            <a:ext cx="338328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6868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C00"/>
                </a:solidFill>
              </a:rPr>
              <a:t>💻 Terraform コード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686800" y="4389120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4389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自動実装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686800" y="464515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tasks.mdに基づき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Kiroがコードを自動生成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549640" y="5248656"/>
            <a:ext cx="338328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68680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33C00"/>
                </a:solidFill>
              </a:rPr>
              <a:t>📊 設計書 / 報告資料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8686800" y="559612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0" y="5596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MCP連携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686800" y="58521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ExcelパラメータシートPPTX資料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（MCPサーバー導入後）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4 仕様駆動開発フロー ← ★新規追加スライド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Spec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プロンプト→直接コード生成ではなく「要件→設計→タスク」の3段階を踏む仕様駆動開発。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パラメータシートと設計書フォーマットをINPUTとして渡すことで、設計書とTerraformコード一式を生成する。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534924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仕組み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91056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8719"/>
                </a:solidFill>
              </a:rPr>
              <a:t>① 要件定義 — requirements.md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EARS記法でユーザーストーリーと受け入れ基準を構造化。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2311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パラメータシートの要件部分をこちらに転記する。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231136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2311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2311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</a:rPr>
              <a:t>パラメータシートの要件部分をこちらに転記する。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08376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971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8719"/>
                </a:solidFill>
              </a:rPr>
              <a:t>② 設計 — design.md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利用するmodules/一覧・アーキテクチャ構成を定義。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6484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パラメータシートの設定値をKiroが整理する。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3648456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6484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7632" y="3648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79"/>
                </a:solidFill>
              </a:rPr>
              <a:t>パラメータシートの設定値をKiroが整理する。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325112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25696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4389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8719"/>
                </a:solidFill>
              </a:rPr>
              <a:t>③ タスク一覧 — tasks.md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47365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依存関係にKiroが実装タスクを自動生成。各タスクを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8680" y="50657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クリックするとKiroが自律的にコード・設計書を生成する。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1115568"/>
            <a:ext cx="589788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11556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 INPUT 置き場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89320" y="1508760"/>
            <a:ext cx="5897880" cy="4892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6002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.kiro/specs/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1947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pj-aaa/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2295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inputs/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35440" y="2313432"/>
            <a:ext cx="2514600" cy="237744"/>
          </a:xfrm>
          <a:prstGeom prst="roundRect">
            <a:avLst>
              <a:gd name="adj" fmla="val 1538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23134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[INPUT] ★ここに置く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0" y="26426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param_sheet.md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29900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qa_table.md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26480" y="3337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requirements.md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235440" y="3355848"/>
            <a:ext cx="2514600" cy="237744"/>
          </a:xfrm>
          <a:prstGeom prst="roundRect">
            <a:avLst>
              <a:gd name="adj" fmla="val 15385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335584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[OUTPUT] Kiroが生成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26480" y="36850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design.md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26480" y="40325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tasks.md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26480" y="4727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0" y="5074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unit-test-spec/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26480" y="5422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235440" y="5440680"/>
            <a:ext cx="2514600" cy="237744"/>
          </a:xfrm>
          <a:prstGeom prst="roundRect">
            <a:avLst>
              <a:gd name="adj" fmla="val 1538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54406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[INPUT] QAテンプレ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26480" y="57698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qa_template.md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5 仕様駆動開発フロー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Steering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プロジェクトの規約・方針をMarkdownに書くだけ。毎回説明しなくてもKiroが常に従う。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チームの「常識」を一度定義すれば、全メンバーが同じ品質でコードを生成できる。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291840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全て INPUT — 人間が事前に定義する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534924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仕組み（4モード）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56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always — 常時読み込み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全チャットに自動で含まれる。技術スタック・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5694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コード規約・社内環境制限など常に必要な情報。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90672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fileMatch — ファイル一致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741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指定パターン（例：*.tf）のファイル編集時のみ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6850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読み込み。コンテキスト消費を節約できる。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123944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06240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auto — AIが自動判断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4897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リクエスト内容からKiroが関連ファイルを判断。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800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セキュリティ設計・API設計などの質問時に起動。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239512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532180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manual — 手動呼び出し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56052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チャットで #ファイル名 または /コマンドで参照。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5916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トラブルシューティングなど大量ドキュメントに。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1536192"/>
            <a:ext cx="589788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53619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ディレクトリ構成と格納内容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89320" y="1920240"/>
            <a:ext cx="5897880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kiro/steering/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tech.md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2331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[always] 技術スタック・共通ルール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66760" y="2670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  AWSリージョン・Terraform Ver・モジュール利用ルール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008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naming.md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66760" y="30083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[fileMatch:*.tf] Terraform命名規則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3346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66760" y="33467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  変数名規約・必須タグ定義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security.md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66760" y="36850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[auto]  セキュリティ方針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4023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  IAM/KMS/VPC/SG規約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26480" y="4361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directory.md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66760" y="4361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[always] 指定ディレクトリ構成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66760" y="4700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  pj-xxx/ 配下の構成ルールなど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5038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env-limits.md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66760" y="5038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[always] 社内環境制限・制約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5376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66760" y="5376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  外部通信・AMI・インスタンス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5715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troubleshoot.md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66760" y="5715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[manual] トラブルシュート手順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6 仕様駆動開発フロー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Skills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リクエストが一致した瞬間にSKILL.md全文を読み込む。GitHub Copilot等の他ツールと共有・流用が可能。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754880" cy="237744"/>
          </a:xfrm>
          <a:prstGeom prst="roundRect">
            <a:avLst>
              <a:gd name="adj" fmla="val 2307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SKILL.md + references/ = INPUT — テンプレートを格納する場所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534924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読み込みフロー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56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Kiro起動時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677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全Skillのname + descriptionのみ読み込み（本文は読まない→軽量）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8152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054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リクエスト照合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3649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ユーザーのリクエストとdescriptionを照合して関連するSkillを特定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78224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7880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全文読み込み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462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一致したSkillのSKILL.md全文をコンテキストに読み込み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5175504"/>
            <a:ext cx="5349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527608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276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5248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references/ 参照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5595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SKILL.mdが指示した時のみ、references/内のファイルを追加読込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★ここにパラメータシートや設計テンプレートを格納する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008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呼び出し方：/ スラッシュコマンド ／ 明示的に「○○Skillを使って」と指示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1536192"/>
            <a:ext cx="589788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53619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ディレクトリ構成と格納内容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89320" y="1920240"/>
            <a:ext cx="58978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9933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kiro/skills/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23113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code-review/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32520" y="223113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レビューチェックリスト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46888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SKILL.md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246888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EBF"/>
                </a:solidFill>
              </a:rPr>
              <a:t>品質・命名・セキュリティ等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270662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32520" y="2706624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モジュール参照パターン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294436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318211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32520" y="3182112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★ Terraformテンプレート格納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341985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unit-test-spec/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32520" y="341985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テスト仕様書作成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365760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389534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732520" y="3895344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★ QA表テンプレート格納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413308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domain-knowledge/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2520" y="4133088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社内システム仕様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437083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SKILL.md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4608576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design-doc/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732520" y="460857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</a:rPr>
              <a:t>設計書生成指示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84632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26480" y="508406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732520" y="5084064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★ 設計書テンプレート格納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89320" y="5468112"/>
            <a:ext cx="589788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08192" y="5486400"/>
            <a:ext cx="5687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★ references/ の使い方：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パラメータシート(.xlsx→.md)、QA表テンプレート、設計書テンプレートなど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「再利用したい定型フォーマット」はここに格納するとKiroがAIとして活用する。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89320" y="6172200"/>
            <a:ext cx="589788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6190488"/>
            <a:ext cx="5687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💡 Plug-in連携：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draw.io・PlantUML等MCP非対応の拡張機能でも、操作手順をSKILL.mdに記述することで</a:t>
            </a:r>
            <a:pPr indent="0" marL="0">
              <a:buNone/>
            </a:pPr>
            <a:r>
              <a:rPr lang="en-US" sz="1000" dirty="0">
                <a:solidFill>
                  <a:srgbClr val="5B21B6"/>
                </a:solidFill>
              </a:rPr>
              <a:t>KiroがそのVS Code拡張の使い方を理解した上で指示を出せる（詳細→ Appendix）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7 仕様駆動開発フロー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Steering / Skills / Spec — 比較表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52578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00400"/>
                <a:gridCol w="3108960"/>
              </a:tblGrid>
              <a:tr h="6572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観点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INPUT（人間が定義）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INPUT（テンプレ格納）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33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OUTPUT（Kiroが生成）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AIの行動規範を定義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専門手順を必要時に提供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機能実装の設計図作成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読み込みタイミング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設定した条件で常時 or 自動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リクエストに合致した時だけ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明示的に作成・参照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任意名の .md ファイル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SKILL.md（固定）+ references/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 / tasks.md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作成タイミング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PJ開始時（以後随時更新）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ワークフロー確立時（再利用前提）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新機能・バグ修正の都度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他ツール互換性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Kiro専用（AGENTS.mdは互換あり）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Copilot等とも共有可能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Kiro専用形式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コンテキスト消費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常に消費（always設定の場合）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必要時のみ → コンテキスト節約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作業中のみ参照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8 Steering &amp; Skills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Kiro導入時のディレクトリ構成（案）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1556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80160" y="11338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Kiroが読み込む事前定義ファイル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63240" y="111556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1155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0" y="11338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Kiroが自動生成する成果物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06440" y="111556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1155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0" y="11338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変更しない参照専用リポ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49640" y="111556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1155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509760" y="11338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作業途中・一時ファイル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444752"/>
            <a:ext cx="6858000" cy="4956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5179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49040" y="151790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Kiro WorkSpace ルート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1726387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49040" y="1726387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Kiro設定（基本触らない）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93487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settings/mcp.json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14335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0" y="2152498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15249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4335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チーム共通ルール（steering + skills を統合）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2351837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9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2351837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技術スタック・Terraform方針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5603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9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49040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命名規則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2768803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9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security.md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749040" y="2768803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セキュリティ禁止事項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97728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9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aws-policy.md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49040" y="297728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AWS利用方針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18577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9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templates.md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49040" y="318577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Excel / PPT / Terraform共通テンプレ指針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3394253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skills/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26080" y="3403397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03397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394253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★ PJとの仕様（ここがKiroの作業場）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3602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specs/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0" y="3611880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61188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49040" y="36027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★ PJごとの仕様（ここがKiroの作業場）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3811219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01970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inputs/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926080" y="4028846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402884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749040" y="401970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★ パラメータシート・QA表を置く場所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22818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requirements.md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926080" y="4237330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423733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7200" y="4436669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design.md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26080" y="4445813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0" y="444581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57200" y="46451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tasks.md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926080" y="4654296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46542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57200" y="4853635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repos/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26080" y="4862779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0" y="4862779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REF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749040" y="4853635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★ 既存リポ（参照専用）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506211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EngRepo/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7200" y="527060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output/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926080" y="5279746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527974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749040" y="527060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★ 生成物（ローカル）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5479085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pj-xxx/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57200" y="56875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excel/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57200" y="5896051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pptx/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57200" y="610453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adhoc/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926080" y="6113678"/>
            <a:ext cx="731520" cy="164592"/>
          </a:xfrm>
          <a:prstGeom prst="roundRect">
            <a:avLst>
              <a:gd name="adj" fmla="val 16667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26080" y="611367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749040" y="610453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# 案件外・調査用（仕様）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498080" y="1444752"/>
            <a:ext cx="4434840" cy="329184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14447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MCPサーバー（将来拡張）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801368"/>
          <a:ext cx="443484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9659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MCPサーバー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ランタイム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8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Python(pip)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社内Excelテンプレートを利用した設計書作成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Python(pip)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社内PPTテンプレートを利用した報告・提案資料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(AWS公式)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Node.js(npm)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Terraformコード生成・リリース定義参照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7" name="Shape 74"/>
          <p:cNvSpPr/>
          <p:nvPr/>
        </p:nvSpPr>
        <p:spPr>
          <a:xfrm>
            <a:off x="7498080" y="3822192"/>
            <a:ext cx="4434840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589520" y="3877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C0A"/>
                </a:solidFill>
              </a:rPr>
              <a:t>■ INPUT / OUTPUT まとめ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7589520" y="422452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589520" y="4224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8339328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Steering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973836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人間が定義するチーム規約・方針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7589520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589520" y="45537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339328" y="4535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Skills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9738360" y="4535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手順書 + テンプレートを格納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7589520" y="488289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7589520" y="4882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8339328" y="4864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specs/inputs/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9738360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パラメータシート・QA表を置く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7589520" y="521208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589520" y="52120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93" name="Text 90"/>
          <p:cNvSpPr/>
          <p:nvPr/>
        </p:nvSpPr>
        <p:spPr>
          <a:xfrm>
            <a:off x="8339328" y="5193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Spec 3files</a:t>
            </a:r>
            <a:endParaRPr lang="en-US" sz="1000" dirty="0"/>
          </a:p>
        </p:txBody>
      </p:sp>
      <p:sp>
        <p:nvSpPr>
          <p:cNvPr id="94" name="Text 91"/>
          <p:cNvSpPr/>
          <p:nvPr/>
        </p:nvSpPr>
        <p:spPr>
          <a:xfrm>
            <a:off x="9738360" y="5193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Kiroが自動生成する仕様書</a:t>
            </a:r>
            <a:endParaRPr lang="en-US" sz="950" dirty="0"/>
          </a:p>
        </p:txBody>
      </p:sp>
      <p:sp>
        <p:nvSpPr>
          <p:cNvPr id="95" name="Shape 92"/>
          <p:cNvSpPr/>
          <p:nvPr/>
        </p:nvSpPr>
        <p:spPr>
          <a:xfrm>
            <a:off x="7589520" y="5541264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589520" y="55412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8339328" y="5522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Terraform</a:t>
            </a:r>
            <a:endParaRPr lang="en-US" sz="1000" dirty="0"/>
          </a:p>
        </p:txBody>
      </p:sp>
      <p:sp>
        <p:nvSpPr>
          <p:cNvPr id="98" name="Text 95"/>
          <p:cNvSpPr/>
          <p:nvPr/>
        </p:nvSpPr>
        <p:spPr>
          <a:xfrm>
            <a:off x="9738360" y="5522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tasks.mdからKiroが自動生成</a:t>
            </a:r>
            <a:endParaRPr lang="en-US" sz="950" dirty="0"/>
          </a:p>
        </p:txBody>
      </p:sp>
      <p:sp>
        <p:nvSpPr>
          <p:cNvPr id="99" name="Shape 96"/>
          <p:cNvSpPr/>
          <p:nvPr/>
        </p:nvSpPr>
        <p:spPr>
          <a:xfrm>
            <a:off x="7589520" y="587044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589520" y="58704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8339328" y="5852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output/</a:t>
            </a:r>
            <a:endParaRPr lang="en-US" sz="1000" dirty="0"/>
          </a:p>
        </p:txBody>
      </p:sp>
      <p:sp>
        <p:nvSpPr>
          <p:cNvPr id="102" name="Text 99"/>
          <p:cNvSpPr/>
          <p:nvPr/>
        </p:nvSpPr>
        <p:spPr>
          <a:xfrm>
            <a:off x="9738360" y="5852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Excel/PPTX成果物（MCP連携）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7589520" y="61996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589520" y="6199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8339328" y="6181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repos/</a:t>
            </a:r>
            <a:endParaRPr lang="en-US" sz="1000" dirty="0"/>
          </a:p>
        </p:txBody>
      </p:sp>
      <p:sp>
        <p:nvSpPr>
          <p:cNvPr id="106" name="Text 103"/>
          <p:cNvSpPr/>
          <p:nvPr/>
        </p:nvSpPr>
        <p:spPr>
          <a:xfrm>
            <a:off x="9738360" y="61813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既存リポ・参照専用</a:t>
            </a:r>
            <a:endParaRPr lang="en-US" sz="950" dirty="0"/>
          </a:p>
        </p:txBody>
      </p:sp>
      <p:sp>
        <p:nvSpPr>
          <p:cNvPr id="107" name="Text 104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9 Steering &amp; Skills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検討事項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207008"/>
            <a:ext cx="11521440" cy="292608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07008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12252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0A"/>
                </a:solidFill>
              </a:rPr>
              <a:t>Git管理方針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.kiro/ フォルダ全体のGit管理可否を確認（mcp.jsonにローカルパスが含まれる場合は.gitignore推奨）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specs/ は成果物として必ずGit管理対象とする（レビュー・変更追跡のため）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output/ はGit管理対象外を推奨（ファイル肥大化防止）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505456"/>
            <a:ext cx="11521440" cy="292608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505456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5237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0A"/>
                </a:solidFill>
              </a:rPr>
              <a:t>Kiro導入審査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Kiro本体の利用承認申請（AWS製AIツール）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ローカルMCPサーバー（Python：mcp, openpyxl, python-pptx）のソフトウェア審査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43814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セキュアFAT PC環境での動作確認（pip install --user対応）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803904"/>
            <a:ext cx="11521440" cy="292608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803904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82219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0A"/>
                </a:solidFill>
              </a:rPr>
              <a:t>チーム展開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151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Steering / Skills ファイルの初期セット整備（tech.md, naming.md, security.md, aws-policy.md）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44398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パラメータシートのMD変換ルール策定（xlsx → md フォーマットの統一）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QA表テンプレートのSkills/references/への格納と検証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5102352"/>
            <a:ext cx="11521440" cy="292608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5102352"/>
            <a:ext cx="329184" cy="329184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5102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" y="512064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0A"/>
                </a:solidFill>
              </a:rPr>
              <a:t>並行運用（審査中）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544982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Kiro審査中はVS Code + GitHub Copilot（Agent Mode）でローカルMCPのPoC実施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742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719"/>
                </a:solidFill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Steering / Skills ファイルをPhase1で整備 → Kiro承認後にそのまま移行（流用可能）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" y="65653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10 検討事項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</a:rPr>
              <a:t>© 2025. For information, contact Deloitte Tohmatsu Group.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3機能と仕様駆動開発フロー</dc:title>
  <dc:subject>PptxGenJS Presentation</dc:subject>
  <dc:creator>PptxGenJS</dc:creator>
  <cp:lastModifiedBy>PptxGenJS</cp:lastModifiedBy>
  <cp:revision>1</cp:revision>
  <dcterms:created xsi:type="dcterms:W3CDTF">2026-04-03T03:18:00Z</dcterms:created>
  <dcterms:modified xsi:type="dcterms:W3CDTF">2026-04-03T03:18:00Z</dcterms:modified>
</cp:coreProperties>
</file>