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1488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Kiroによる仕様駆動開発の導入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41248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チーム展開説明会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41248" y="5394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E6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CMS インフラ構築サービス ／ 2026年7月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本日のアジェンダ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822960" y="14630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645920" y="15087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Kiro の概要と利用上の考え方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45920" y="24231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デモ（録画）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32918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645920" y="33375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質疑応答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822960" y="42062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45920" y="42519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ハンズオンのご案内（AWS 向け）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22960" y="5120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645920" y="516636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Azure / GCP の展開について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Kiro の概要 — 何をしてくれるのか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96012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QA票・基本設計書・構成図のインプットから、仕様書 → 基本設計書 → Terraform コードを半自動生成します。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2139696" cy="3429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600200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6002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仕様書作成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30936" y="2240280"/>
            <a:ext cx="1883664" cy="640080"/>
          </a:xfrm>
          <a:prstGeom prst="roundRect">
            <a:avLst>
              <a:gd name="adj" fmla="val 11429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0936" y="2240280"/>
            <a:ext cx="18836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inputs/&lt;案件フォルダ名&gt;/ に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入力ファイルを配置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30936" y="300837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936" y="300837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/generate-design 実行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" y="3575304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" y="3575304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 (requirements.md) 生成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460857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⛔ 停止（人間の承認待ち）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660904" y="3017520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807208" y="1600200"/>
            <a:ext cx="2139696" cy="3429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07208" y="1600200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17" name="Text 15"/>
          <p:cNvSpPr/>
          <p:nvPr/>
        </p:nvSpPr>
        <p:spPr>
          <a:xfrm>
            <a:off x="2807208" y="16002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基本設計書作成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2935224" y="2240280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35224" y="22402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仕様書レビュー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935224" y="28072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35224" y="28072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「続けて設計書を作成して」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35224" y="337413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35224" y="337413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基本設計書 (design.md) 生成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898648" y="460857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⛔ 停止（人間の承認待ち）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965192" y="3017520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111496" y="1600200"/>
            <a:ext cx="2139696" cy="3429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11496" y="1600200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28" name="Text 26"/>
          <p:cNvSpPr/>
          <p:nvPr/>
        </p:nvSpPr>
        <p:spPr>
          <a:xfrm>
            <a:off x="5111496" y="16002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設計書修正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239512" y="2240280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39512" y="22402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設計書レビュー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239512" y="28072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9512" y="28072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「××を〇〇に修正して」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5239512" y="337413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39512" y="337413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該当箇所のみ修正  ⟲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7269480" y="3017520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7415784" y="1600200"/>
            <a:ext cx="2139696" cy="3429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15784" y="1600200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38" name="Text 36"/>
          <p:cNvSpPr/>
          <p:nvPr/>
        </p:nvSpPr>
        <p:spPr>
          <a:xfrm>
            <a:off x="7415784" y="16002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コード生成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7543800" y="2240280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43800" y="22402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設計書承認後に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543800" y="28072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43800" y="28072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/generate-code 実行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543800" y="337413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337413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コード (IaC) 生成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7507224" y="460857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⛔ 停止（人間の承認待ち）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9573768" y="3017520"/>
            <a:ext cx="128016" cy="0"/>
          </a:xfrm>
          <a:prstGeom prst="line">
            <a:avLst/>
          </a:prstGeom>
          <a:noFill/>
          <a:ln w="31750">
            <a:solidFill>
              <a:srgbClr val="666666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9720072" y="1600200"/>
            <a:ext cx="2139696" cy="34290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720072" y="1600200"/>
            <a:ext cx="2139696" cy="475488"/>
          </a:xfrm>
          <a:prstGeom prst="roundRect">
            <a:avLst>
              <a:gd name="adj" fmla="val 11538"/>
            </a:avLst>
          </a:prstGeom>
          <a:solidFill>
            <a:srgbClr val="1B5E20"/>
          </a:solidFill>
          <a:ln/>
        </p:spPr>
      </p:sp>
      <p:sp>
        <p:nvSpPr>
          <p:cNvPr id="49" name="Text 47"/>
          <p:cNvSpPr/>
          <p:nvPr/>
        </p:nvSpPr>
        <p:spPr>
          <a:xfrm>
            <a:off x="9720072" y="1600200"/>
            <a:ext cx="21396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コード修正</a:t>
            </a:r>
            <a:endParaRPr lang="en-US" sz="1350" dirty="0"/>
          </a:p>
        </p:txBody>
      </p:sp>
      <p:sp>
        <p:nvSpPr>
          <p:cNvPr id="50" name="Shape 48"/>
          <p:cNvSpPr/>
          <p:nvPr/>
        </p:nvSpPr>
        <p:spPr>
          <a:xfrm>
            <a:off x="9848088" y="2240280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848088" y="2240280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コードレビュー・デプロイ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848088" y="2807208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848088" y="2807208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「××を〇〇に修正して」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9848088" y="3374136"/>
            <a:ext cx="1883664" cy="438912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9050">
            <a:solidFill>
              <a:srgbClr val="1B5E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848088" y="3374136"/>
            <a:ext cx="18836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該当箇所のみ修正  ⟲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02920" y="534924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E6F0E0"/>
          </a:solidFill>
          <a:ln/>
        </p:spPr>
      </p:sp>
      <p:sp>
        <p:nvSpPr>
          <p:cNvPr id="57" name="Text 55"/>
          <p:cNvSpPr/>
          <p:nvPr/>
        </p:nvSpPr>
        <p:spPr>
          <a:xfrm>
            <a:off x="868680" y="5349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各フェーズで Kiro は必ず停止 ＝ 人間のレビュー・承認が次へ進める唯一のトリガー（設計書 → コードの自動連続実行はしない）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Kiro はどう動いているか — ルール × 手順書 × 公式情報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417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steering（ルール）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77240" y="1892808"/>
            <a:ext cx="4892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コーディング規約・命名・環境定義など、常に自動で効くルール。全員の生成に同じ規約が適用される。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41732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skills（手順書）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92240" y="1892808"/>
            <a:ext cx="4892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/generate-* で明示起動する生成手順書。LLM に判断させず、決まった手順・出力先で動く。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MCP（公式情報の参照）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4224528"/>
            <a:ext cx="4892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Terraform 公式仕様（Provider ドキュメント）を都度参照してコードを書く。記憶で書かせない。構成図は draw.io MCP で生成。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440680" cy="2057400"/>
          </a:xfrm>
          <a:prstGeom prst="roundRect">
            <a:avLst>
              <a:gd name="adj" fmla="val 3556"/>
            </a:avLst>
          </a:prstGeom>
          <a:solidFill>
            <a:srgbClr val="F5F5F5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749040"/>
            <a:ext cx="4892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Hooks（機械検証）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6492240" y="4224528"/>
            <a:ext cx="48920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コード生成後に .gitignore 配置 → README 生成 → fmt → init/validate を一括実行。決定論的な検証は機械に任せる。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B5E20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設定はすべてリポジトリでチーム共有 — 誰が実行しても、同じルール・同じ手順・同じ情報源で生成される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1. 利用上の考え方 — 5 つの原則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40080" y="12801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37160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の出力を鵜呑みにしない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583680" y="12344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生成物は必ず人の目でレビュー。品質責任は承認した人間にある。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1947672"/>
            <a:ext cx="10972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37160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フェーズごとに人間の承認を挟む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583680" y="210312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承認が次へ進めるトリガー。設計書 → コードの自動連続実行はしない。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0080" y="2816352"/>
            <a:ext cx="10972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[要確認] を放置しない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583680" y="29718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インプットから確定できない値は [要確認] で残る。必ず洗い出して解消してから次へ。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3685032"/>
            <a:ext cx="10972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886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37160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修正はピンポイントで指示する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583680" y="384048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「××の箇所を〇〇に修正して」。全体の作り直しは差分レビューを困難にする。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4553712"/>
            <a:ext cx="10972800" cy="0"/>
          </a:xfrm>
          <a:prstGeom prst="line">
            <a:avLst/>
          </a:prstGeom>
          <a:noFill/>
          <a:ln w="1270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54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1371600" y="4709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モデルはチーム標準 Claude Opus 4.7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583680" y="47091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動作保証はこのモデルのみ。不安定なときはまず標準モデルに戻す。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02920" y="5669280"/>
            <a:ext cx="11155680" cy="777240"/>
          </a:xfrm>
          <a:prstGeom prst="roundRect">
            <a:avLst>
              <a:gd name="adj" fmla="val 9412"/>
            </a:avLst>
          </a:prstGeom>
          <a:solidFill>
            <a:srgbClr val="1B5E20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66928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 は「下書きを高速に作る係」— 確認・判断・責任は、これまでどおり私たちの仕事です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2. デモ（録画） — フェーズ1: 仕様書 〜 design.md 生成まで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55680" cy="1371600"/>
          </a:xfrm>
          <a:prstGeom prst="roundRect">
            <a:avLst>
              <a:gd name="adj" fmla="val 6667"/>
            </a:avLst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28016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▶  デモ録画: </a:t>
            </a:r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＜録画リンクに差し替え＞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288036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6666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録画の内容: inputs/ への入力配置 → /generate-design 実行 → 仕様書レビュー → 「続けて設計書を作成して」 → design.md 生成 → 箇所指定の修正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02920" y="35204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注目してほしいポイント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106984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入力は「フォルダに置くだけ」— チャット添付は不要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生成のたびに Kiro が停止すること — 勝手に次へ進まない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[要確認] マークの実物 — 確定できない値は空欄にせず明示される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修正は「××を〇〇に修正して」— 該当箇所だけが直る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3. 質疑応答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1463040"/>
            <a:ext cx="11155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D5E4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Q&amp;A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502920" y="2926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よくある質問（先回り）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3429000"/>
            <a:ext cx="106984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モデルは変えていい？ → チーム標準は Claude Opus 4.7（動作保証対象）。それ以外は保証外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生成物の品質責任は？ → レビュー・承認した人間にあります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既存案件にも使える？ → QA 票・基本設計書があれば inputs/ に置くだけで試せます</a:t>
            </a:r>
            <a:endParaRPr lang="en-US" sz="15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クレジットは？ → スキルは必要な分だけ読み込む設計で無駄撃ちを抑制。夕方は応答が遅くなる場合あり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4. ハンズオンのご案内（AWS 向け・別日程）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2F6EF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463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何をやるか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各自の端末で初期セットアップを完了（導入手順書 Step 1〜6）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PoC 案件で /generate-design を体験（仕様書 → design.md）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詰まった箇所はその場でフォロー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FFF6E5"/>
          </a:solidFill>
          <a:ln w="12700">
            <a:solidFill>
              <a:srgbClr val="E0A8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463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事前に OneNote で確認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26280" y="210312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 導入手順書 §0 — 前提ソフトの導入（Node.js / Git / Python 等）を済ませてくること（必須）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 利用手順書 §1 — 開発フローの原則に目を通しておく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困ったら: 02 末尾のトラブルシューティング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92440" y="1280160"/>
            <a:ext cx="3611880" cy="3931920"/>
          </a:xfrm>
          <a:prstGeom prst="roundRect">
            <a:avLst>
              <a:gd name="adj" fmla="val 2025"/>
            </a:avLst>
          </a:prstGeom>
          <a:solidFill>
            <a:srgbClr val="E6F0E0"/>
          </a:solidFill>
          <a:ln w="12700">
            <a:solidFill>
              <a:srgbClr val="86BC2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321040" y="146304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インプット資料の格納先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8321040" y="2103120"/>
            <a:ext cx="31546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ハンズオン用インプット（QA 票・基本設計書・構成図）: ＜格納先リンクに差し替え＞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当日、各自 inputs/&lt;案件フォルダ名&gt;/ へコピーして使用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案件フォルダ名は当日案内します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02920" y="544068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1B5E20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5440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日程: ＜調整のうえ連絡＞　／　▶ ハンズオン資料（PoC）: ＜リンクに差し替え＞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5. Azure / GCP の展開について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188720"/>
            <a:ext cx="11155680" cy="914400"/>
          </a:xfrm>
          <a:prstGeom prst="roundRect">
            <a:avLst>
              <a:gd name="adj" fmla="val 8000"/>
            </a:avLst>
          </a:prstGeom>
          <a:solidFill>
            <a:srgbClr val="1B5E20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18872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6BC25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仕組みは CSP 共通。AWS は検証完了。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 Azure / GCP も「CSP 別の部品」を定義すれば、同じ精度の成果物が出る想定です。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233172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F5F5F5"/>
          </a:solidFill>
          <a:ln w="12700">
            <a:solidFill>
              <a:srgbClr val="C9C9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487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現状（正直ベース）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77240" y="29260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CSP 別部品（parts・設計書フォーマット・モジュールカタログ）は雛形あり・未検証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Provider バージョン標準は検証後に確定・追記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検証は AWS → Azure → GCP の順で順次実施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2331720"/>
            <a:ext cx="5440680" cy="3017520"/>
          </a:xfrm>
          <a:prstGeom prst="roundRect">
            <a:avLst>
              <a:gd name="adj" fmla="val 2424"/>
            </a:avLst>
          </a:prstGeom>
          <a:solidFill>
            <a:srgbClr val="E6F0E0"/>
          </a:solidFill>
          <a:ln w="19050">
            <a:solidFill>
              <a:srgbClr val="86BC2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0" y="248716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お願いしたいこと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6537960" y="292608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検証パイロットへの参加（各 CSP 1〜2 名）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CSP 知見の提供 — リソース略称・記入ルール・頻出モジュールを部品ファイルへ反映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1B1B1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検証に使える題材案件（QA 票・基本設計書が揃うもの）の提供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5577840"/>
            <a:ext cx="11155680" cy="822960"/>
          </a:xfrm>
          <a:prstGeom prst="roundRect">
            <a:avLst>
              <a:gd name="adj" fmla="val 8889"/>
            </a:avLst>
          </a:prstGeom>
          <a:solidFill>
            <a:srgbClr val="E6F0E0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55778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セットアップは今回全員で完了 → Azure / GCP の検証開始時に「すぐ動ける」状態をつくります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2026-07-16T06:19:46Z</dcterms:created>
  <dcterms:modified xsi:type="dcterms:W3CDTF">2026-07-16T06:19:46Z</dcterms:modified>
</cp:coreProperties>
</file>