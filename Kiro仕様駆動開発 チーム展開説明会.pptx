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表紙。開始の挨拶と本日の目的（仕組みの理解とセットアップへの動機付け）を一言。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アジェンダを30秒で。ハンズオンは今日はやらず別日程である旨を先に伝える。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セクション表紙。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課題→解決を1分。最後の大原則バーは必ず口頭で強調する。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流れを左から右へ。修正フェーズは差し戻しループ（⟲）である旨を補足。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ツリーは読み上げず「3点だけ」を伝える。詳細はOneNoteへ誘導。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4要素を各20秒。「個人依存をなくす仕掛けがこの4つ」で締める。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本日の肝。左＝共通、右＝差し替え部品。Azure/GCPメンバーに「仕組みごと作り直しではない」と伝える。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実績は事実ベースで淡々と。最後の注意で期待値を調整する。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デモ画面へ切替。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このスライドを出したままKiroへ切替。4つの注目ポイントを先に読み上げてからデモ開始。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出なければ先回りFAQを自分から触れて時間調整。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セクション表紙。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事前準備（§0）を強調。ここが済んでいればハンズオン当日は30分で完了する。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セクション表紙。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温度を下げないパート。「作り直しではなく部品の定義」「知見が正式ルールとして残る」ことを伝える。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3行まとめ→役割別アクション。質問はチャネルへ、で締める。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Kiroによる仕様駆動開発の導入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41248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チーム展開説明会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E6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CMS インフラ構築サービス ／ 2026年7月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本日のアジェンダ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645920" y="134416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 — 背景と仕組み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64208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なぜ導入するか／どう動いているか（CSP共通の設計）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500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23682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ライブデモ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64208" y="28072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フェーズ1: 仕様書 〜 design.md 生成まで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3741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45920" y="339242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質疑応答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43982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645920" y="441655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ハンズオンのご案内（AWS向け）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64208" y="485546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別日程で実施・事前準備のお願い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422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645920" y="54406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 / GCP の現状と協力依頼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64208" y="587959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検証ロードマップとお願いしたいこと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2514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 — 背景と仕組み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154680" y="3520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6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なぜ導入するのか／Kiroはどう動いているのか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背景と狙い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個人のスキルに依存しない、再現性のあるインフラ設計・構築へ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5F5F5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これまでの課題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設計書・コードの品質が担当者のスキルに左右される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設計書・構成図・IaC の作成に多くの工数がかかる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レビュー負荷が高く、観点も人によりバラつく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E6F0E0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874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本取り組みでの解決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33172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チーム共通のルール・スキルをリポジトリで共有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Kiro が 仕様書 → 設計書 → Terraform コード を半自動生成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スキルはコマンドで明示起動し、動作の再現性を担保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516636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1B5E2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516636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大原則: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の出力を鵜呑みにしない。各フェーズで人間がレビュー・承認して次へ進む（品質責任は承認した人間にある）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開発フロー全体図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2139696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9E9E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2139696" cy="502920"/>
          </a:xfrm>
          <a:prstGeom prst="roundRect">
            <a:avLst>
              <a:gd name="adj" fmla="val 10909"/>
            </a:avLst>
          </a:prstGeom>
          <a:solidFill>
            <a:srgbClr val="1B5E2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7160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仕様書作成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" y="2057400"/>
            <a:ext cx="1883664" cy="658368"/>
          </a:xfrm>
          <a:prstGeom prst="roundRect">
            <a:avLst>
              <a:gd name="adj" fmla="val 11111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0936" y="2057400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inputs/&lt;案件フォルダ名&gt;/ に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QA票・基本設計書・構成図を配置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0936" y="2862072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" y="286207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/generate-design 実行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0936" y="3465576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" y="3465576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 (requirements.md) 生成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448056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⛔ 停止（人間の承認待ち）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60904" y="2834640"/>
            <a:ext cx="128016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07208" y="1371600"/>
            <a:ext cx="2139696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9E9E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7208" y="1371600"/>
            <a:ext cx="2139696" cy="502920"/>
          </a:xfrm>
          <a:prstGeom prst="roundRect">
            <a:avLst>
              <a:gd name="adj" fmla="val 10909"/>
            </a:avLst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2807208" y="137160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基本設計書作成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35224" y="2057400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35224" y="20574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仕様書レビュー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35224" y="2660904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35224" y="2660904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「続けて設計書を作成して」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935224" y="3264408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35224" y="326440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基本設計書 (design.md) 生成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898648" y="448056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⛔ 停止（人間の承認待ち）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65192" y="2834640"/>
            <a:ext cx="128016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11496" y="1371600"/>
            <a:ext cx="2139696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9E9E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371600"/>
            <a:ext cx="2139696" cy="502920"/>
          </a:xfrm>
          <a:prstGeom prst="roundRect">
            <a:avLst>
              <a:gd name="adj" fmla="val 10909"/>
            </a:avLst>
          </a:prstGeom>
          <a:solidFill>
            <a:srgbClr val="1B5E20"/>
          </a:solidFill>
          <a:ln/>
        </p:spPr>
      </p:sp>
      <p:sp>
        <p:nvSpPr>
          <p:cNvPr id="27" name="Text 25"/>
          <p:cNvSpPr/>
          <p:nvPr/>
        </p:nvSpPr>
        <p:spPr>
          <a:xfrm>
            <a:off x="5111496" y="137160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設計書修正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239512" y="2057400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39512" y="20574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設計書レビュー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239512" y="2660904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39512" y="2660904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「××を〇〇に修正して」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239512" y="3264408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9512" y="326440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該当箇所のみ修正  ⟲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269480" y="2834640"/>
            <a:ext cx="128016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415784" y="1371600"/>
            <a:ext cx="2139696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9E9E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15784" y="1371600"/>
            <a:ext cx="2139696" cy="502920"/>
          </a:xfrm>
          <a:prstGeom prst="roundRect">
            <a:avLst>
              <a:gd name="adj" fmla="val 10909"/>
            </a:avLst>
          </a:prstGeom>
          <a:solidFill>
            <a:srgbClr val="1B5E20"/>
          </a:solidFill>
          <a:ln/>
        </p:spPr>
      </p:sp>
      <p:sp>
        <p:nvSpPr>
          <p:cNvPr id="37" name="Text 35"/>
          <p:cNvSpPr/>
          <p:nvPr/>
        </p:nvSpPr>
        <p:spPr>
          <a:xfrm>
            <a:off x="7415784" y="137160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コード生成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543800" y="2057400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43800" y="20574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設計書承認後に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543800" y="2660904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43800" y="2660904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/generate-code 実行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543800" y="3264408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543800" y="326440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 コード (IaC) 生成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07224" y="448056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⛔ 停止（人間の承認待ち）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573768" y="2834640"/>
            <a:ext cx="128016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720072" y="1371600"/>
            <a:ext cx="2139696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9E9E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20072" y="1371600"/>
            <a:ext cx="2139696" cy="502920"/>
          </a:xfrm>
          <a:prstGeom prst="roundRect">
            <a:avLst>
              <a:gd name="adj" fmla="val 10909"/>
            </a:avLst>
          </a:prstGeom>
          <a:solidFill>
            <a:srgbClr val="1B5E20"/>
          </a:solidFill>
          <a:ln/>
        </p:spPr>
      </p:sp>
      <p:sp>
        <p:nvSpPr>
          <p:cNvPr id="48" name="Text 46"/>
          <p:cNvSpPr/>
          <p:nvPr/>
        </p:nvSpPr>
        <p:spPr>
          <a:xfrm>
            <a:off x="9720072" y="137160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コード修正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48088" y="2057400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848088" y="20574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コードレビュー・デプロイ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848088" y="2660904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848088" y="2660904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「××を〇〇に修正して」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848088" y="3264408"/>
            <a:ext cx="1883664" cy="457200"/>
          </a:xfrm>
          <a:prstGeom prst="roundRect">
            <a:avLst>
              <a:gd name="adj" fmla="val 16000"/>
            </a:avLst>
          </a:prstGeom>
          <a:solidFill>
            <a:srgbClr val="FAFAFA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848088" y="326440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該当箇所のみ修正  ⟲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E6F0E0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各フェーズで Kiro は必ず停止 ＝ 人間のレビュー・承認が次へ進める唯一のトリガー（設計書 → コードの自動連続実行はしない）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リポジトリ構成 — どこに何があるか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6675120" cy="4846320"/>
          </a:xfrm>
          <a:prstGeom prst="roundRect">
            <a:avLst>
              <a:gd name="adj" fmla="val 1132"/>
            </a:avLst>
          </a:prstGeom>
          <a:solidFill>
            <a:srgbClr val="23292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17320"/>
            <a:ext cx="6309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cms-eng-spec-driven-development/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.kiro/                # Kiro 共通設定 ★Git 管理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steering/         #  常に効くルール群（規約・命名・環境定義・言語）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skills/           #  生成スキル群（/generate-* で明示起動）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 generate-design/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├─ generate-code/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 generate-diagram/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settings/         #  MCP 設定テンプレート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 agents/ hooks/    #  拡張用の予約枠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eng-repos/            # 既存 Terraform モジュール（Submodule）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inputs/               # 案件の入力ファイル置き場（配置するだけ）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outputs/              # 成果物（要件・設計書・構成図・コード）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E4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AGENTS.md / README.md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452360" y="1234440"/>
            <a:ext cx="4206240" cy="4846320"/>
          </a:xfrm>
          <a:prstGeom prst="roundRect">
            <a:avLst>
              <a:gd name="adj" fmla="val 1304"/>
            </a:avLst>
          </a:prstGeom>
          <a:solidFill>
            <a:srgbClr val="F2F6EF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266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押さえるのは 3 点だけ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26680" y="1965960"/>
            <a:ext cx="3703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入力は inputs/ に置くだけ（チャット添付は不要）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成果物はすべて outputs/ に出る（Git 管理外）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ルールとスキルは .kiro/ でチーム共有（全員同じ設定で動く）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26680" y="443484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詳細ドキュメントは OneNote 4 分冊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環境仕様書  ② 導入手順書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利用手順書  ④ 運用手順書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Kiro はどう動いているか ① — 魔法ではなく、ルール × 手順書 × 公式情報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6F0E0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steering（ルール）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コーディング規約・命名・環境定義など、常に自動で効くルール。全員の生成に同じ規約が適用される。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6F0E0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57276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skills（手順書）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92240" y="205740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/generate-* で明示起動する生成手順書。LLM に判断させず、決まった手順・出力先で動く。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5F5F5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99592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MCP（公式情報の参照）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448056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Terraform 公式仕様（Provider ドキュメント）を都度参照してコードを書く。記憶で書かせない。構成図は draw.io MCP で生成。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17920" y="3794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5F5F5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399592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Hooks（機械検証）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448056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コード生成後に .gitignore 配置 → README 生成 → fmt → init/validate を一括実行。決定論的な検証は機械に任せる。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誰が実行しても、同じルール・同じ手順・同じ情報源で生成される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Kiro はどう動いているか ② — 仕組みは CSP 共通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E6F0E0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4630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CSP 共通（全クラウドで同じ）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開発フロー・承認ゲート（停止 → 人間承認）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スキル本体（generate-design / code / diagram）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コーディング規約・命名規約・Excel 入出力ルール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MCP による公式仕様参照・Hooks による機械検証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28016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5F5F5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37960" y="146304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CSP 別に定義する箇所（差し替え可能な部品）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37960" y="2011680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parts/{cloud}.md — 記入ルール・リソース略称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設計書フォーマット（{cloud}-doc-format.md）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モジュールカタログ（eng-repos の参照先）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Provider バージョン標準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525780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B5E2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AWS は検証完了。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Azure / GCP も、右側の「CSP 別部品」を定義すれば同じ精度の成果物が出る想定です。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AWS 検証で確認できたこと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✔  inputs/ 配置 → /generate-design → 仕様書・設計書（design.md）の生成が一巡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✔  設計書承認後の /generate-code で Terraform コードを生成、terraform validate を通過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✔  「××を〇〇に修正して」によるピンポイント修正（全体を作り直さない）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✔  Hooks による生成後チェック（.gitignore／README 生成／fmt／init・validate）が自動で完走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✔  構成図（draw.io）の生成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48920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6E5"/>
          </a:solidFill>
          <a:ln w="12700">
            <a:solidFill>
              <a:srgbClr val="E0A8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過度な期待は禁物: </a:t>
            </a:r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インプットから確定できない値は [要確認] として残ります。生成物の確認・レビューは従来どおり人間の仕事です（AI は下書きを高速に作る係）。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2514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ライブデモ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154680" y="3520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6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フェーズ1: 仕様書 〜 design.md 生成まで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ライブデモ — 本日お見せする範囲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5F5F5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1554480"/>
            <a:ext cx="2432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inputs/&lt;案件フォルダ名&gt;/ に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入力ファイルを配置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172968" y="2240280"/>
            <a:ext cx="164592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355848" y="15544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6F0E0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65576" y="1554480"/>
            <a:ext cx="2432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/generate-design 実行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仕様書生成・停止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25896" y="2240280"/>
            <a:ext cx="164592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208776" y="15544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5F5F5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8504" y="1554480"/>
            <a:ext cx="2432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仕様書レビュー 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「続けて設計書を作成して」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78824" y="2240280"/>
            <a:ext cx="164592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61704" y="15544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6F0E0"/>
          </a:solidFill>
          <a:ln w="12700">
            <a:solidFill>
              <a:srgbClr val="86BC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1554480"/>
            <a:ext cx="24323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design.md 生成・停止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レビュー・修正依頼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383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デモで注目してほしいポイント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3886200"/>
            <a:ext cx="10698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入力は「フォルダに置くだけ」— チャット添付は不要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生成のたびに Kiro が停止すること — 勝手に次へ進まない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[要確認] マークの実物 — 確定できない値は空欄にせず明示される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修正は「××を〇〇に修正して」— 該当箇所だけが直る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質疑応答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154680" y="3200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よくある質問（先回り）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154680" y="370332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F0E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モデルは変えていい？ → チーム標準は Claude Opus 4.7（動作保証対象）。それ以外は保証外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F0E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生成物の品質責任は？ → レビュー・承認した人間にあります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F0E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既存案件にも使える？ → QA 票・基本設計書があれば inputs/ に置くだけで試せます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2514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ハンズオンのご案内（AWS 向け）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154680" y="3520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6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別日程で実施します — 事前準備のお願い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ハンズオンのご案内（AWS 向け・別日程）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5440680" cy="3657600"/>
          </a:xfrm>
          <a:prstGeom prst="roundRect">
            <a:avLst>
              <a:gd name="adj" fmla="val 2000"/>
            </a:avLst>
          </a:prstGeom>
          <a:solidFill>
            <a:srgbClr val="F2F6EF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実施内容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各自の端末で初期セットアップ（導入手順書 Step 1〜6）を完了させる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検証用 PoC 案件で /generate-design を体験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詰まったポイントはその場でフォロー（トラブル表も実地検証）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4434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日程: ＜調整のうえ連絡＞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440680" cy="3657600"/>
          </a:xfrm>
          <a:prstGeom prst="roundRect">
            <a:avLst>
              <a:gd name="adj" fmla="val 2000"/>
            </a:avLst>
          </a:prstGeom>
          <a:solidFill>
            <a:srgbClr val="FFF6E5"/>
          </a:solidFill>
          <a:ln w="12700">
            <a:solidFill>
              <a:srgbClr val="E0A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事前準備のお願い（必須）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892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導入手順書 §0 のソフトウェア導入を済ませてくること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Node.js（v18+）/ npm / Git / Python（openpyxl・pandas）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IaC 利用ソフトウェア管理台帳に従いインストール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 DevOps（各 CSP プロジェクト）へのアクセス権確認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E6F0E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ハンズオン資料（PoC 環境・手順）: ＜リンクに差し替え＞　／　OneNote: 02 導入手順書・03 利用手順書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86BC2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2514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 / GCP の現状と協力依頼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154680" y="3520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6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検証ロードマップとお願いしたいこと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 / GCP の現状と、お願いしたいこと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5F5F5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現状（正直ベース）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4892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仕組み（フロー・スキル・規約）は CSP 共通で利用可能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parts / 設計書フォーマット / モジュールカタログは雛形あり・未検証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Provider バージョン標準は検証後に確定・追記予定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検証は AWS → Azure → GCP の順で順次実施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32588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E6F0E0"/>
          </a:solidFill>
          <a:ln w="19050">
            <a:solidFill>
              <a:srgbClr val="86BC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3796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お願いしたいこと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37960" y="1965960"/>
            <a:ext cx="4892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検証パイロットへの参加（各 CSP 1〜2 名）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CSP 知見の提供 — リソース略称・記入ルール・頻出モジュールを parts / カタログへ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検証に使える題材案件（QA 票・基本設計書が揃うもの）の提供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516636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1B5E2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16636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セットアップは今回全員で完了させ、Azure / GCP の検証開始時に「すぐ動ける」状態をつくります。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本日のまとめ &amp; 次のアクション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仕組みは CSP 共通。AWS で検証完了。各フェーズで人間が承認して進む。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ドキュメントの正は OneNote 4 分冊（環境仕様書・導入・利用・運用）。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の出力は必ず人の目でレビュー — 品質責任は承認した人間に。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3429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393192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931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0" y="393192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導入手順書 §0 の事前準備（台帳ソフト導入）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4681728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1B5E20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6817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AWS メンバー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291840" y="4681728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ハンズオン（別日程）でセットアップ完了 → 実案件で利用開始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5431536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1B5E2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54315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Azure / GCP メンバー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91840" y="5431536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セットアップ完了＋検証パイロット・知見提供のご協力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2026-07-16T00:39:55Z</dcterms:created>
  <dcterms:modified xsi:type="dcterms:W3CDTF">2026-07-16T00:39:55Z</dcterms:modified>
</cp:coreProperties>
</file>