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Kiroによる仕様駆動開発の導入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チーム展開説明会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CMS インフラ構築サービス ／ 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本日のアジェンダ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0" y="1463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 の概要と利用上の考え方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4231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デモ（録画）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33832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ハンズオンのご案内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4343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 / GCP の展開について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5486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Appendix: Kiro がどう動いているか（仕組みの詳細）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Kiroの概要 − CMS業務におけるカバー範囲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 がカバーするのは設計フェーズ — PoC で 1 案件あたり約 4.3 人日の削減を確認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508760"/>
            <a:ext cx="11155680" cy="4206240"/>
          </a:xfrm>
          <a:prstGeom prst="roundRect">
            <a:avLst>
              <a:gd name="adj" fmla="val 1304"/>
            </a:avLst>
          </a:prstGeom>
          <a:solidFill>
            <a:srgbClr val="FAFAFA"/>
          </a:solidFill>
          <a:ln w="19050">
            <a:solidFill>
              <a:srgbClr val="9E9E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02920" y="1508760"/>
            <a:ext cx="11155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【ここに PoC 中間報告 p.16 のスライドを流用して挿入】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（Eng セクション業務フロー × Kiro 活用 ／ 約6.3人日 → 約2.0人日）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 → 設計 → 構築 → 試験・支援 のうち、Kiro が置き換えるのは「設計」フェーズ（ヒアリング・QA・構築以降は従来どおり）。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Kiroの概要 − 開発フロー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インプットを置いてコマンドを実行するだけ — 次へ進めるのは、常に人間のレビュー・承認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139696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481328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813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仕様書作成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" y="2121408"/>
            <a:ext cx="1883664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121408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inputs/&lt;案件フォルダ名&gt;/ 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入力ファイルを配置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" y="2880360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8803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/generate-design 実行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" y="3438144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438144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 (requirements.md) 生成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523951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60904" y="2852928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07208" y="1481328"/>
            <a:ext cx="2139696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7208" y="1481328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24" name="Text 22"/>
          <p:cNvSpPr/>
          <p:nvPr/>
        </p:nvSpPr>
        <p:spPr>
          <a:xfrm>
            <a:off x="2807208" y="14813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基本設計書作成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935224" y="21214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5224" y="21214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仕様書レビュー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35224" y="2679192"/>
            <a:ext cx="1883664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35224" y="2679192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修正あり:「仕様書の××を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〇〇に修正して」⟲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35224" y="3438144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35224" y="3438144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問題なし:「続けて設計書を作成して」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35224" y="399592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39959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基本設計書 (design.md) 生成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98648" y="523951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65192" y="2852928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11496" y="1481328"/>
            <a:ext cx="2139696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11496" y="1481328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37" name="Text 35"/>
          <p:cNvSpPr/>
          <p:nvPr/>
        </p:nvSpPr>
        <p:spPr>
          <a:xfrm>
            <a:off x="5111496" y="14813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設計書修正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239512" y="21214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9512" y="21214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設計書レビュー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39512" y="2679192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26791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「××を〇〇に修正して」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39512" y="323697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9512" y="323697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該当箇所のみ修正  ⟲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69480" y="2852928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15784" y="1481328"/>
            <a:ext cx="2139696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15784" y="1481328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47" name="Text 45"/>
          <p:cNvSpPr/>
          <p:nvPr/>
        </p:nvSpPr>
        <p:spPr>
          <a:xfrm>
            <a:off x="7415784" y="14813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コード生成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543800" y="21214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43800" y="21214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設計書承認後に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43800" y="2679192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26791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/generate-code 実行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543800" y="323697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23697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コード (IaC) 生成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07224" y="523951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573768" y="2852928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720072" y="1481328"/>
            <a:ext cx="2139696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20072" y="1481328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58" name="Text 56"/>
          <p:cNvSpPr/>
          <p:nvPr/>
        </p:nvSpPr>
        <p:spPr>
          <a:xfrm>
            <a:off x="9720072" y="148132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コード修正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9848088" y="21214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48088" y="21214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コードレビュー・デプロイ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848088" y="2679192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48088" y="267919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「××を〇〇に修正して」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48088" y="323697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48088" y="323697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該当箇所のみ修正  ⟲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仕様書（requirements.md）＝ インプットから要件・制約・前提条件を構造化した中間成果物。設計に入る前に、ここで認識の齟齬を潰す。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Kiroの概要 − 利用上の考え方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確認・判断・責任は、これまでどおり私たちの仕事です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15361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5361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の出力を鵜呑みにしない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720840" y="15361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 AI はもっともらしい誤り（ハルシネーション）を含み得る。生成物は必ず人の目でレビューし、品質責任は承認した人間が持つ。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322576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505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24505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フェーズごとに人間の承認を挟む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720840" y="24505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承認が次へ進めるトリガー。設計書 → コードの自動連続生成はしない。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236976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649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364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[要確認] を放置しない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720840" y="33649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インプットから確定できない値は [要確認] で残る。必ず洗い出して解消してから次へ。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51376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793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42793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修正はピンポイントで指示する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720840" y="42793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「××の箇所を〇〇に修正して」。全体の作り直しは差分レビューを困難にする。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065776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937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51937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デフォルトモデルはチーム標準 Claude Opus 4.7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720840" y="519379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は Opus 4.7 で実施し、この構成で一定品質を担保できることを確認済み。不安定なときはまず標準モデルに戻す。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614476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1B5E20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61447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は「下書きを高速に作る係」— 確認・判断・責任は人間の仕事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デモ（録画）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フェーズ1（仕様書 〜 design.md 生成）の実際の動きをご覧ください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55448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1B5E2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デモ録画: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＜録画リンクに差し替え＞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録画の内容: inputs/ への入力配置 → /generate-design 実行 → 仕様書レビュー → 「続けて設計書を作成して」 → design.md 生成 → 箇所指定の修正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注目してほしいポイント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入力は「フォルダに置くだけ」— チャット添付は不要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生成のたびに Kiro が停止すること — 勝手に次へ進まない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[要確認] マークの実物 — 確定できない値は空欄にせず明示される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修正は「××を〇〇に修正して」— 該当箇所だけが直る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ハンズオンのご案内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AWS・Azure メンバー（AWS の検証環境で実施）— 事前準備を済ませれば当日 30 分で完了します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6E5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事前に OneNote で確認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Eng Iac関連 ＞ 仕様駆動開発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導入手順書 §0 — 前提ソフトの導入（Node.js / Git / Python 等）を済ませてくること（必須）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利用手順書 §1 — 開発フローの原則に目を通しておく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2F6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何をやるか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各自の端末で初期セットアップを完了（導入手順書 Step 1〜6）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案件で /generate-design を体験（仕様書 → design.md）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詰まった箇所はその場でフォロー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インプット資料の格納先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2104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04.仕様駆動開発導入 ＞ 02.展開 ＞ ハンズオン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ハンズオン用インプット（QA 票・基本設計書・構成図）は下記フォルダ配下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当日、各自 inputs/&lt;案件フォルダ名&gt;/ へコピーして使用（フォルダ名は当日案内）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6235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日程: ＜調整のうえ連絡＞　／　▶ ハンズオン資料: 04.仕様駆動開発導入 ＞ 02.展開 ＞ ハンズオン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48563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7435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63072" y="16459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64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926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Azure / GCP の展開について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仕組みは CSP 共通・AWS は検証完了 — 「CSP 別の部品」を定義すれば同じ精度の成果物が出る想定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5544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5F5F5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現状（正直ベース）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2176272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 別部品（parts・設計書フォーマット・モジュールカタログ）は雛形あり・未検証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Provider バージョン標準は検証後に確定・追記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 AWS → Azure → GCP の順で順次実施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E6F0E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お願いしたいこと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37960" y="2176272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検証パイロットへの参加（各 CSP 1〜2 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 知見の提供 — リソース略称・記入ルール・頻出モジュールを部品ファイルへ反映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検証に使える題材案件（QA 票・基本設計書が揃うもの）の提供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6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セットアップは今回全員で完了 → Azure / GCP の検証開始時に「すぐ動ける」状態をつくります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Appendix: Kiro がどう動いているか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カスタムルール × 手順書 × 公式情報参照 — 個人依存をなくす 4 つの仕掛け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steering（ルール）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コーディング規約・命名・環境定義など、常に自動で効くルール。全員の生成に同じ規約が適用される。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skills（手順書）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16712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/generate-* で明示起動する生成手順書。LLM に判断させず、決まった手順・出力先で動く。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77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MCP（公式情報の参照）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公式仕様（Provider ドキュメント）を都度参照してコードを書く。記憶で書かせない。構成図は draw.io MCP で生成。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Hooks（今後実装予定）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453128"/>
            <a:ext cx="4892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判断が不要な単純作業を Hook 機能に委任する構想。例: コード生成後に .gitignore 配置 → README 生成 → fmt → init/validate を一括実行。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8521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852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誰が実行しても、同じルール・同じ手順・同じ情報源で生成される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2026-07-17T02:21:18Z</dcterms:created>
  <dcterms:modified xsi:type="dcterms:W3CDTF">2026-07-17T02:21:18Z</dcterms:modified>
</cp:coreProperties>
</file>