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39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6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2926080"/>
            <a:ext cx="5852160" cy="5852160"/>
          </a:xfrm>
          <a:prstGeom prst="ellipse">
            <a:avLst/>
          </a:prstGeom>
          <a:solidFill>
            <a:srgbClr val="86BC25">
              <a:alpha val="1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1005840"/>
            <a:ext cx="3108960" cy="310896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Amazon Kiroによる仕様駆動開発の導入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3429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AD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概要 ／ デモ ／ ハンズオンのご案内 ／ Azure・GCPへの展開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847088"/>
            <a:ext cx="128016" cy="128016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Kiroの概要と利用上の考え方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69264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58568"/>
            <a:ext cx="1058875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2596896"/>
            <a:ext cx="128016" cy="128016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68680" y="2441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92640" y="24414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008376"/>
            <a:ext cx="1058875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66928" y="3346704"/>
            <a:ext cx="128016" cy="128016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1912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ハンズオンのご案内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92640" y="31912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3758184"/>
            <a:ext cx="1058875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66928" y="4096512"/>
            <a:ext cx="128016" cy="128016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68680" y="3941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/ GCP の展開について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92640" y="39410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4507992"/>
            <a:ext cx="1058875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66928" y="4846320"/>
            <a:ext cx="128016" cy="128016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68680" y="4690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Appendix：Kiro がどう動いているか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92640" y="46908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5257800"/>
            <a:ext cx="1058875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Kiroを活用した仕様駆動開発により、設計フェーズで工数削減効果を確認しています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Kiroの概要 – Eng業務におけるカバー範囲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E9F2EB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設計フェーズの工数　</a:t>
            </a:r>
            <a:r>
              <a:rPr lang="en-US" sz="2000" b="1" dirty="0">
                <a:solidFill>
                  <a:srgbClr val="5A5A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約6.3人日</a:t>
            </a:r>
            <a:r>
              <a:rPr lang="en-US" sz="1600" b="1" dirty="0">
                <a:solidFill>
                  <a:srgbClr val="76767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→　</a:t>
            </a:r>
            <a:r>
              <a:rPr lang="en-US" sz="22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約2.0人日</a:t>
            </a: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／案件</a:t>
            </a:r>
            <a:r>
              <a:rPr lang="en-US" sz="15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（約4.3人日の削減）</a:t>
            </a:r>
            <a:r>
              <a:rPr lang="en-US" sz="1000" dirty="0">
                <a:solidFill>
                  <a:srgbClr val="76767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※AWS PoC実績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487168"/>
            <a:ext cx="2395728" cy="777240"/>
          </a:xfrm>
          <a:prstGeom prst="chevron">
            <a:avLst/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要件確定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" y="3419856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ヒアリング内容・大まかな構成図をもとに、仕様書（要件定義）の生成を自動化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79192" y="2487168"/>
            <a:ext cx="2395728" cy="777240"/>
          </a:xfrm>
          <a:prstGeom prst="chevron">
            <a:avLst/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設計書作成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34056" y="3419856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要件定義に基づき、設計書・IaCコードの生成を自動化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55464" y="2487168"/>
            <a:ext cx="2395728" cy="777240"/>
          </a:xfrm>
          <a:prstGeom prst="chevron">
            <a:avLst/>
          </a:prstGeom>
          <a:solidFill>
            <a:srgbClr val="EBEB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構築作業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0328" y="3419856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基本設計書に基づき、Terraformで環境へデプロイ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31736" y="2487168"/>
            <a:ext cx="2395728" cy="777240"/>
          </a:xfrm>
          <a:prstGeom prst="chevron">
            <a:avLst/>
          </a:prstGeom>
          <a:solidFill>
            <a:srgbClr val="EBEB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試験実施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3419856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試験書に基づき、単体・複合テストを人手で実施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08008" y="2487168"/>
            <a:ext cx="2395728" cy="777240"/>
          </a:xfrm>
          <a:prstGeom prst="chevron">
            <a:avLst/>
          </a:prstGeom>
          <a:solidFill>
            <a:srgbClr val="EBEB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⑤ 環境引き渡し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62872" y="3419856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利用者へ環境を引き渡し（瑕疵期間：1ヵ月）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" y="4626864"/>
            <a:ext cx="155448" cy="155448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86384" y="4562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Kiroがカバー（自動生成）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29000" y="4626864"/>
            <a:ext cx="155448" cy="155448"/>
          </a:xfrm>
          <a:prstGeom prst="rect">
            <a:avLst/>
          </a:prstGeom>
          <a:solidFill>
            <a:srgbClr val="EBEBEB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657600" y="4562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従来どおり（人手）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今後の広がり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413248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完了｜</a:t>
            </a:r>
            <a:r>
              <a:rPr lang="en-US" sz="1100" b="1" dirty="0">
                <a:solidFill>
                  <a:srgbClr val="4A4A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AWS PoC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16352" y="5413248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6767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5413248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E4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今回｜</a:t>
            </a: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Eng内展開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9552" y="5413248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6767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89320" y="5413248"/>
            <a:ext cx="569671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予定｜</a:t>
            </a:r>
            <a:r>
              <a:rPr lang="en-US" sz="1050" b="1" dirty="0">
                <a:solidFill>
                  <a:srgbClr val="4A4A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Azure・GCP PoC ／ 機能改善 ／ 構築・試験PoCへ拡張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インプットから、仕様書・基本設計書・IaCコードを段階的に生成できます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Kiroの概要 – 開発フロー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22402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ユーザーアクション</a:t>
            </a:r>
            <a:endParaRPr lang="en-US" sz="8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inputs/&lt;案件フォルダ名&gt;/ に入力ファイルを配置し、/generate-design を実行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61488" y="2080260"/>
            <a:ext cx="23774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2103120" cy="960120"/>
          </a:xfrm>
          <a:prstGeom prst="roundRect">
            <a:avLst>
              <a:gd name="adj" fmla="val 3810"/>
            </a:avLst>
          </a:prstGeom>
          <a:solidFill>
            <a:srgbClr val="E9F2EB"/>
          </a:solidFill>
          <a:ln w="12700">
            <a:solidFill>
              <a:srgbClr val="BFD9CB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Kiro処理</a:t>
            </a:r>
            <a:endParaRPr lang="en-US" sz="8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仕様書（requirements.md）を生成して停止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138928" y="2080260"/>
            <a:ext cx="23774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394960" y="1508760"/>
            <a:ext cx="1463040" cy="1143000"/>
          </a:xfrm>
          <a:prstGeom prst="diamond">
            <a:avLst/>
          </a:prstGeom>
          <a:solidFill>
            <a:srgbClr val="F5F5F5"/>
          </a:solidFill>
          <a:ln w="12700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仕様書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レビュー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76288" y="2080260"/>
            <a:ext cx="23774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638544" y="18196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問題なし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132320" y="1600200"/>
            <a:ext cx="22402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ユーザーアクション</a:t>
            </a:r>
            <a:endParaRPr lang="en-US" sz="8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「続けて設計書を作成して」と依頼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0" cy="41148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2761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問題あり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60520" y="3063240"/>
            <a:ext cx="26517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「仕様書の××を〇〇に修正して」と依頼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 flipH="1">
            <a:off x="3566160" y="3310128"/>
            <a:ext cx="594360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non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 flipV="1">
            <a:off x="3566160" y="2578608"/>
            <a:ext cx="0" cy="73152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247888" y="2560320"/>
            <a:ext cx="0" cy="1069848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non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 flipH="1">
            <a:off x="1554480" y="3630168"/>
            <a:ext cx="6693408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non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554480" y="3630168"/>
            <a:ext cx="0" cy="146304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2103120" cy="960120"/>
          </a:xfrm>
          <a:prstGeom prst="roundRect">
            <a:avLst>
              <a:gd name="adj" fmla="val 3810"/>
            </a:avLst>
          </a:prstGeom>
          <a:solidFill>
            <a:srgbClr val="E9F2EB"/>
          </a:solidFill>
          <a:ln w="12700">
            <a:solidFill>
              <a:srgbClr val="BFD9CB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Kiro処理</a:t>
            </a:r>
            <a:endParaRPr lang="en-US" sz="8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基本設計書（design.md）を生成して停止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24328" y="4274820"/>
            <a:ext cx="19202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834640" y="3703320"/>
            <a:ext cx="1371600" cy="1143000"/>
          </a:xfrm>
          <a:prstGeom prst="diamond">
            <a:avLst/>
          </a:prstGeom>
          <a:solidFill>
            <a:srgbClr val="F5F5F5"/>
          </a:solidFill>
          <a:ln w="12700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レビュー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24528" y="4274820"/>
            <a:ext cx="23774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114800" y="40233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問題なし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80560" y="3794760"/>
            <a:ext cx="173736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ユーザーアクション</a:t>
            </a:r>
            <a:endParaRPr lang="en-US" sz="8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/generate-code を実行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36208" y="4274820"/>
            <a:ext cx="19202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46520" y="3794760"/>
            <a:ext cx="2148840" cy="960120"/>
          </a:xfrm>
          <a:prstGeom prst="roundRect">
            <a:avLst>
              <a:gd name="adj" fmla="val 3810"/>
            </a:avLst>
          </a:prstGeom>
          <a:solidFill>
            <a:srgbClr val="E9F2EB"/>
          </a:solidFill>
          <a:ln w="12700">
            <a:solidFill>
              <a:srgbClr val="BFD9CB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Kiro処理</a:t>
            </a:r>
            <a:endParaRPr lang="en-US" sz="8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Terraformコード（IaC）を生成して停止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613648" y="4274820"/>
            <a:ext cx="19202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823960" y="3703320"/>
            <a:ext cx="1463040" cy="1143000"/>
          </a:xfrm>
          <a:prstGeom prst="diamond">
            <a:avLst/>
          </a:prstGeom>
          <a:solidFill>
            <a:srgbClr val="F5F5F5"/>
          </a:solidFill>
          <a:ln w="12700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コードレビュー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・デプロイ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305288" y="4274820"/>
            <a:ext cx="237744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168128" y="40050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問題なし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561320" y="4005072"/>
            <a:ext cx="960120" cy="548640"/>
          </a:xfrm>
          <a:prstGeom prst="ellipse">
            <a:avLst/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20440" y="4846320"/>
            <a:ext cx="0" cy="41148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3611880" y="49560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修正が必要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965960" y="5257800"/>
            <a:ext cx="26517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「設計書の××を〇〇に修正して」と依頼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1554480" y="5504688"/>
            <a:ext cx="411480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non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 flipV="1">
            <a:off x="1554480" y="4773168"/>
            <a:ext cx="0" cy="73152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9555480" y="4846320"/>
            <a:ext cx="0" cy="41148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9646920" y="49560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修正が必要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955280" y="5257800"/>
            <a:ext cx="26517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「コードの××を〇〇に修正して」と依頼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 flipH="1">
            <a:off x="7498080" y="5504688"/>
            <a:ext cx="457200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non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 flipV="1">
            <a:off x="7498080" y="4773168"/>
            <a:ext cx="0" cy="73152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※仕様書（requirements.md）＝インプットから要件・制約・前提条件を構造化した中間成果物。設計に入る前に、ここで認識の齟齬を潰す。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確認・判断・責任は、これまでどおり私たちの仕事です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Kiroの概要 – 利用上の考え方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1005840"/>
          </a:xfrm>
          <a:prstGeom prst="roundRect">
            <a:avLst>
              <a:gd name="adj" fmla="val 5455"/>
            </a:avLst>
          </a:prstGeom>
          <a:solidFill>
            <a:srgbClr val="E9F2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95528" y="1618488"/>
            <a:ext cx="512064" cy="512064"/>
          </a:xfrm>
          <a:prstGeom prst="ellipse">
            <a:avLst/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17904" y="1371600"/>
            <a:ext cx="10012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生成AIは、事実でない内容をもっともらしく・自信ありげに回答すること（ハルシネーション）があります。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生成物は必ず人の目でレビューし、品質責任は承認した人間が持ちます。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フェーズごとに人間の承認を挟む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3017520"/>
            <a:ext cx="7434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承認が次工程へ進むトリガー。設計書 → コードの自動連続生成はしない。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547872"/>
            <a:ext cx="1118311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[要確認] を放置しない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3639312"/>
            <a:ext cx="7434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インプットから確定できない値は [要確認] のまま出力される。必ず洗い出し、解消してから次へ。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1118311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" y="426110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修正はピンポイントで指示する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4261104"/>
            <a:ext cx="7434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「××の箇所を〇〇に修正して」と指示。全体の作り直しは差分レビューを困難にする。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791456"/>
            <a:ext cx="11183112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02920" y="5138928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4A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利用モデル：チーム標準 Claude Opus 4.7</a:t>
            </a:r>
            <a:endParaRPr lang="en-US" sz="11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A5A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今回のPoCはOpus 4.7で実施し、この構成で一定品質を担保できることを確認済みです。挙動が不安定な場合は、まず標準モデルに戻してください。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仕様駆動開発の実践フローを体験していただきます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ライブデモ　※検討中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3112" cy="731520"/>
          </a:xfrm>
          <a:prstGeom prst="roundRect">
            <a:avLst>
              <a:gd name="adj" fmla="val 7500"/>
            </a:avLst>
          </a:prstGeom>
          <a:solidFill>
            <a:srgbClr val="86BC25"/>
          </a:solidFill>
          <a:ln/>
        </p:spPr>
        <p:txBody>
          <a:bodyPr wrap="square" lIns="203200" tIns="203200" rIns="203200" bIns="2032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51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　デモ録画：＜録画リンクに差し替え予定＞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注目してほしいポイント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1208" y="2852928"/>
            <a:ext cx="109728" cy="109728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68096" y="27614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入力は「フォルダに置くだけ」</a:t>
            </a: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チャット添付は不要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3355848"/>
            <a:ext cx="109728" cy="109728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68096" y="32644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生成のたびに Kiro が停止</a:t>
            </a: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勝手に次へは進まない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858768"/>
            <a:ext cx="109728" cy="109728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68096" y="37673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[要確認] マークの実物</a:t>
            </a: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確定できない値は空欄にせず明示される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361688"/>
            <a:ext cx="109728" cy="109728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68096" y="4270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修正は「××を〇〇に修正して」</a:t>
            </a: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該当箇所だけが直る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864608"/>
            <a:ext cx="109728" cy="109728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68096" y="47731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成果物は Markdown 形式</a:t>
            </a: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フォーマットは既存の基本設計書と同様（今後、Excel形式の出力も検討予定）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2395728"/>
            <a:ext cx="4233672" cy="2560320"/>
          </a:xfrm>
          <a:prstGeom prst="roundRect">
            <a:avLst>
              <a:gd name="adj" fmla="val 2143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726680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デモの流れ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297180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リポジトリをクローン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サブモジュールを更新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Inputs ファイルを配置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仕様書生成 → レビュー → [要確認] の回答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⑤ 設計書生成 → レビュー → [要確認] の回答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⑥ コード生成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事前準備はOneNoteの手順書確認のみ — 当日は各自の端末で仕様書生成を体験いただきます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ハンズオンのご案内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30368" cy="3291840"/>
          </a:xfrm>
          <a:prstGeom prst="roundRect">
            <a:avLst>
              <a:gd name="adj" fmla="val 1944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r>
              <a:rPr lang="en-US" sz="15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事前（〜前日）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OneNote「Eng IaC関連 ＞ 仕様駆動開発 ＞ 00_目次・はじめに」に目を通す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「02_導入手順書」「03_利用手順書」も事前に見ておくと当日スムーズ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2953512"/>
            <a:ext cx="493776" cy="402336"/>
          </a:xfrm>
          <a:prstGeom prst="rightArrow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55664" y="1508760"/>
            <a:ext cx="5230368" cy="3291840"/>
          </a:xfrm>
          <a:prstGeom prst="roundRect">
            <a:avLst>
              <a:gd name="adj" fmla="val 1944"/>
            </a:avLst>
          </a:prstGeom>
          <a:solidFill>
            <a:srgbClr val="E9F2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775704" y="1755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r>
              <a:rPr lang="en-US" sz="15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当日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21424" y="237744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導入手順に沿って、各自の端末で初期セットアップ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/generate-design を体験（仕様書 → design.md）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/generate-code は時間・興味のある方のみ（任意）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インプット資料（QA票・基本設計書・構成図）は「04_仕様駆動開発導入 ＞ 02_展開 ＞ ハンズオン」から各自 Inputs/&lt;案件フォルダ名&gt;/ へコピー（例：cms-aws-demo）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仕組みはCSP共通 — Azure・GCP展開に必要なのは「CSP固有要素（Parts）の定義」のみです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/ GCP の展開について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3112" cy="1005840"/>
          </a:xfrm>
          <a:prstGeom prst="roundRect">
            <a:avLst>
              <a:gd name="adj" fmla="val 5455"/>
            </a:avLst>
          </a:prstGeom>
          <a:solidFill>
            <a:srgbClr val="E9F2EB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SKILL・Steering は CSP 共通のため、仕組みの作り直しは不要です。</a:t>
            </a:r>
            <a:endParaRPr lang="en-US" sz="13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CSP別に必要なのは Parts（記入ルール・フォーマット・モジュールカタログ・Providerバージョン標準）の定義のみ。（改善余地があればぜひ！）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999232"/>
            <a:ext cx="360273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3145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651760" cy="420624"/>
          </a:xfrm>
          <a:prstGeom prst="roundRect">
            <a:avLst>
              <a:gd name="adj" fmla="val 23913"/>
            </a:avLst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検証完了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8536" y="2999232"/>
            <a:ext cx="360273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62856" y="3145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2856" y="3611880"/>
            <a:ext cx="2651760" cy="420624"/>
          </a:xfrm>
          <a:prstGeom prst="roundRect">
            <a:avLst>
              <a:gd name="adj" fmla="val 23913"/>
            </a:avLst>
          </a:prstGeom>
          <a:solidFill>
            <a:srgbClr val="EAF3D6"/>
          </a:solidFill>
          <a:ln w="12700">
            <a:solidFill>
              <a:srgbClr val="C7DCA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Parts定義に一部着手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4152" y="2999232"/>
            <a:ext cx="360273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348472" y="3145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GCP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8472" y="3611880"/>
            <a:ext cx="2651760" cy="420624"/>
          </a:xfrm>
          <a:prstGeom prst="roundRect">
            <a:avLst>
              <a:gd name="adj" fmla="val 23913"/>
            </a:avLst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未着手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11183112" cy="1280160"/>
          </a:xfrm>
          <a:prstGeom prst="roundRect">
            <a:avLst>
              <a:gd name="adj" fmla="val 4286"/>
            </a:avLst>
          </a:prstGeom>
          <a:solidFill>
            <a:srgbClr val="046A38"/>
          </a:solidFill>
          <a:ln/>
        </p:spPr>
        <p:txBody>
          <a:bodyPr wrap="square" lIns="203200" tIns="203200" rIns="203200" bIns="20320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お願い：CSP知見のご提供（Parts 部分の定義）にご協力ください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D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検証方式・時期は未定です。決まり次第別途ご案内しますので、その際はご協力をお願いいたします。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誰が実行しても、同じルール・手順・情報源で生成される仕掛けになっている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Appendix：Kiro がどう動いているか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02736" cy="2286000"/>
          </a:xfrm>
          <a:prstGeom prst="roundRect">
            <a:avLst>
              <a:gd name="adj" fmla="val 2800"/>
            </a:avLst>
          </a:prstGeom>
          <a:solidFill>
            <a:srgbClr val="E9F2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同じルール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0665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steering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コーディング規約・命名・環境定義など、常に自動で効くルール。全員の生成に同じ規約が適用される。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81328"/>
            <a:ext cx="3602736" cy="2286000"/>
          </a:xfrm>
          <a:prstGeom prst="roundRect">
            <a:avLst>
              <a:gd name="adj" fmla="val 2800"/>
            </a:avLst>
          </a:prstGeom>
          <a:solidFill>
            <a:srgbClr val="E9F2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62856" y="173736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同じ手順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62856" y="20665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skills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62856" y="2670048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/generate-* で明示起動する生成手順書。LLMに判断させず、決まった手順・出力先で動く。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4152" y="1481328"/>
            <a:ext cx="3602736" cy="2286000"/>
          </a:xfrm>
          <a:prstGeom prst="roundRect">
            <a:avLst>
              <a:gd name="adj" fmla="val 2800"/>
            </a:avLst>
          </a:prstGeom>
          <a:solidFill>
            <a:srgbClr val="E9F2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348472" y="173736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同じ情報源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48472" y="20665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48472" y="2670048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Terraform 公式仕様（Provider ドキュメント）を都度参照してコードを書く。記憶で書かせない。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A4A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Hooks（実装予定・構想）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A5A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LLM 判断が不要な単純作業を委任する構想。例：コード生成後に .gitignore 配置 → README 生成 → fmt → init/validate を一括実行。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" y="5358384"/>
            <a:ext cx="155448" cy="155448"/>
          </a:xfrm>
          <a:prstGeom prst="rect">
            <a:avLst/>
          </a:prstGeom>
          <a:solidFill>
            <a:srgbClr val="E9F2EB"/>
          </a:solidFill>
          <a:ln w="9525">
            <a:solidFill>
              <a:srgbClr val="BFD9C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86384" y="5294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実装済み（今回利用）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5358384"/>
            <a:ext cx="155448" cy="155448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474720" y="5294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実装予定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9｜Amazon Kiroによる仕様駆動開発の導入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UI"/>
        <a:ea typeface="Yu Gothic U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/>
        <a:ea typeface="Yu Gothic U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Macintosh PowerPoint</Application>
  <PresentationFormat>ワイド画面</PresentationFormat>
  <Paragraphs>150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Yu Gothic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暁せん 姫</cp:lastModifiedBy>
  <cp:revision>2</cp:revision>
  <dcterms:created xsi:type="dcterms:W3CDTF">2026-07-20T23:01:22Z</dcterms:created>
  <dcterms:modified xsi:type="dcterms:W3CDTF">2026-07-24T05:57:48Z</dcterms:modified>
</cp:coreProperties>
</file>