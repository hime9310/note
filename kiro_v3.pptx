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071A30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0" y="0"/>
            <a:ext cx="54864" cy="51435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5" name="Shape 3"/>
          <p:cNvSpPr/>
          <p:nvPr/>
        </p:nvSpPr>
        <p:spPr>
          <a:xfrm>
            <a:off x="7178040" y="365760"/>
            <a:ext cx="73152" cy="73152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589520" y="365760"/>
            <a:ext cx="73152" cy="73152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8001000" y="365760"/>
            <a:ext cx="73152" cy="73152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8412480" y="365760"/>
            <a:ext cx="73152" cy="73152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178040" y="868680"/>
            <a:ext cx="73152" cy="73152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7589520" y="868680"/>
            <a:ext cx="73152" cy="73152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8001000" y="868680"/>
            <a:ext cx="73152" cy="73152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8412480" y="868680"/>
            <a:ext cx="73152" cy="73152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7178040" y="1371600"/>
            <a:ext cx="73152" cy="73152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7589520" y="1371600"/>
            <a:ext cx="73152" cy="73152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8001000" y="1371600"/>
            <a:ext cx="73152" cy="73152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8412480" y="1371600"/>
            <a:ext cx="73152" cy="73152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7178040" y="1874520"/>
            <a:ext cx="73152" cy="73152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7589520" y="1874520"/>
            <a:ext cx="73152" cy="73152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8001000" y="1874520"/>
            <a:ext cx="73152" cy="73152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8412480" y="1874520"/>
            <a:ext cx="73152" cy="73152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7178040" y="2377440"/>
            <a:ext cx="73152" cy="73152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7589520" y="2377440"/>
            <a:ext cx="73152" cy="73152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8001000" y="2377440"/>
            <a:ext cx="73152" cy="73152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8412480" y="2377440"/>
            <a:ext cx="73152" cy="73152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365760" y="502920"/>
            <a:ext cx="2011680" cy="347472"/>
          </a:xfrm>
          <a:prstGeom prst="roundRect">
            <a:avLst>
              <a:gd name="adj" fmla="val 13158"/>
            </a:avLst>
          </a:prstGeom>
          <a:solidFill>
            <a:srgbClr val="028090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" y="50292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Kiro 機能調査レポート Vol.2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65760" y="1005840"/>
            <a:ext cx="6217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Steering / Skills / Spec</a:t>
            </a:r>
            <a:endParaRPr lang="en-US" sz="4600" dirty="0"/>
          </a:p>
        </p:txBody>
      </p:sp>
      <p:sp>
        <p:nvSpPr>
          <p:cNvPr id="28" name="Text 26"/>
          <p:cNvSpPr/>
          <p:nvPr/>
        </p:nvSpPr>
        <p:spPr>
          <a:xfrm>
            <a:off x="365760" y="1965960"/>
            <a:ext cx="6217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A89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3機能の詳細と組み合わせ活用ガイド</a:t>
            </a:r>
            <a:endParaRPr lang="en-US" sz="2400" dirty="0"/>
          </a:p>
        </p:txBody>
      </p:sp>
      <p:sp>
        <p:nvSpPr>
          <p:cNvPr id="29" name="Shape 27"/>
          <p:cNvSpPr/>
          <p:nvPr/>
        </p:nvSpPr>
        <p:spPr>
          <a:xfrm>
            <a:off x="365760" y="2651760"/>
            <a:ext cx="4114800" cy="3657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0" name="Text 28"/>
          <p:cNvSpPr/>
          <p:nvPr/>
        </p:nvSpPr>
        <p:spPr>
          <a:xfrm>
            <a:off x="365760" y="2788920"/>
            <a:ext cx="6217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仕様駆動開発における WorkSpace 設計とディレクトリ構成を含む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65760" y="452628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2026年3月  |  CMS Team  |  Kiro PoC 調査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3つの機能 — 全体像と役割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0040" y="640080"/>
            <a:ext cx="2743200" cy="4251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1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640080"/>
            <a:ext cx="2743200" cy="54864"/>
          </a:xfrm>
          <a:prstGeom prst="rect">
            <a:avLst/>
          </a:prstGeom>
          <a:solidFill>
            <a:srgbClr val="02809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868680"/>
            <a:ext cx="530352" cy="5303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148132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Steering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1143000" y="1920240"/>
            <a:ext cx="1097280" cy="3657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9" name="Text 6"/>
          <p:cNvSpPr/>
          <p:nvPr/>
        </p:nvSpPr>
        <p:spPr>
          <a:xfrm>
            <a:off x="411480" y="20116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AIへの「常識」インプット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29768" y="2514600"/>
            <a:ext cx="475488" cy="256032"/>
          </a:xfrm>
          <a:prstGeom prst="rect">
            <a:avLst/>
          </a:prstGeom>
          <a:solidFill>
            <a:srgbClr val="02809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何を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960120" y="25146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コーディング規約・アーキテクチャ・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セキュリティポリシーを常時記憶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29768" y="3182112"/>
            <a:ext cx="475488" cy="256032"/>
          </a:xfrm>
          <a:prstGeom prst="rect">
            <a:avLst/>
          </a:prstGeom>
          <a:solidFill>
            <a:srgbClr val="02809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いつ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960120" y="318211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常時 or 条件一致で自動読み込み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429768" y="3849624"/>
            <a:ext cx="475488" cy="256032"/>
          </a:xfrm>
          <a:prstGeom prst="rect">
            <a:avLst/>
          </a:prstGeom>
          <a:solidFill>
            <a:srgbClr val="02809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形式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960120" y="3849624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任意の .md ファイル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3246120" y="640080"/>
            <a:ext cx="2743200" cy="4251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1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246120" y="640080"/>
            <a:ext cx="2743200" cy="54864"/>
          </a:xfrm>
          <a:prstGeom prst="rect">
            <a:avLst/>
          </a:prstGeom>
          <a:solidFill>
            <a:srgbClr val="7C3AED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868680"/>
            <a:ext cx="530352" cy="530352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337560" y="148132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  <a:endParaRPr lang="en-US" sz="2000" dirty="0"/>
          </a:p>
        </p:txBody>
      </p:sp>
      <p:sp>
        <p:nvSpPr>
          <p:cNvPr id="20" name="Shape 16"/>
          <p:cNvSpPr/>
          <p:nvPr/>
        </p:nvSpPr>
        <p:spPr>
          <a:xfrm>
            <a:off x="4069080" y="1920240"/>
            <a:ext cx="1097280" cy="3657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1" name="Text 17"/>
          <p:cNvSpPr/>
          <p:nvPr/>
        </p:nvSpPr>
        <p:spPr>
          <a:xfrm>
            <a:off x="3337560" y="20116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オンデマンド専門知識パッケージ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3355848" y="2514600"/>
            <a:ext cx="475488" cy="256032"/>
          </a:xfrm>
          <a:prstGeom prst="rect">
            <a:avLst/>
          </a:prstGeom>
          <a:solidFill>
            <a:srgbClr val="7C3AE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何を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3886200" y="25146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デプロイ手順・レビュープロセス・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ドメイン固有の手順書を必要時に読込</a:t>
            </a:r>
            <a:endParaRPr lang="en-US" sz="1050" dirty="0"/>
          </a:p>
        </p:txBody>
      </p:sp>
      <p:sp>
        <p:nvSpPr>
          <p:cNvPr id="24" name="Text 20"/>
          <p:cNvSpPr/>
          <p:nvPr/>
        </p:nvSpPr>
        <p:spPr>
          <a:xfrm>
            <a:off x="3355848" y="3182112"/>
            <a:ext cx="475488" cy="256032"/>
          </a:xfrm>
          <a:prstGeom prst="rect">
            <a:avLst/>
          </a:prstGeom>
          <a:solidFill>
            <a:srgbClr val="7C3AE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いつ</a:t>
            </a:r>
            <a:endParaRPr lang="en-US" sz="1000" dirty="0"/>
          </a:p>
        </p:txBody>
      </p:sp>
      <p:sp>
        <p:nvSpPr>
          <p:cNvPr id="25" name="Text 21"/>
          <p:cNvSpPr/>
          <p:nvPr/>
        </p:nvSpPr>
        <p:spPr>
          <a:xfrm>
            <a:off x="3886200" y="318211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リクエスト内容が一致した時だけ</a:t>
            </a:r>
            <a:endParaRPr lang="en-US" sz="1050" dirty="0"/>
          </a:p>
        </p:txBody>
      </p:sp>
      <p:sp>
        <p:nvSpPr>
          <p:cNvPr id="26" name="Text 22"/>
          <p:cNvSpPr/>
          <p:nvPr/>
        </p:nvSpPr>
        <p:spPr>
          <a:xfrm>
            <a:off x="3355848" y="3849624"/>
            <a:ext cx="475488" cy="256032"/>
          </a:xfrm>
          <a:prstGeom prst="rect">
            <a:avLst/>
          </a:prstGeom>
          <a:solidFill>
            <a:srgbClr val="7C3AE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形式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3886200" y="3849624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SKILL.md + references/</a:t>
            </a:r>
            <a:endParaRPr lang="en-US" sz="1050" dirty="0"/>
          </a:p>
        </p:txBody>
      </p:sp>
      <p:sp>
        <p:nvSpPr>
          <p:cNvPr id="28" name="Shape 24"/>
          <p:cNvSpPr/>
          <p:nvPr/>
        </p:nvSpPr>
        <p:spPr>
          <a:xfrm>
            <a:off x="6172200" y="640080"/>
            <a:ext cx="2743200" cy="4251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1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6172200" y="640080"/>
            <a:ext cx="2743200" cy="54864"/>
          </a:xfrm>
          <a:prstGeom prst="rect">
            <a:avLst/>
          </a:prstGeom>
          <a:solidFill>
            <a:srgbClr val="2563EB"/>
          </a:solidFill>
          <a:ln/>
        </p:spPr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0" y="868680"/>
            <a:ext cx="530352" cy="530352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6263640" y="148132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</a:t>
            </a:r>
            <a:endParaRPr lang="en-US" sz="2000" dirty="0"/>
          </a:p>
        </p:txBody>
      </p:sp>
      <p:sp>
        <p:nvSpPr>
          <p:cNvPr id="32" name="Shape 27"/>
          <p:cNvSpPr/>
          <p:nvPr/>
        </p:nvSpPr>
        <p:spPr>
          <a:xfrm>
            <a:off x="6995160" y="1920240"/>
            <a:ext cx="109728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3" name="Text 28"/>
          <p:cNvSpPr/>
          <p:nvPr/>
        </p:nvSpPr>
        <p:spPr>
          <a:xfrm>
            <a:off x="6263640" y="20116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仕様駆動開発の設計図</a:t>
            </a:r>
            <a:endParaRPr lang="en-US" sz="1200" dirty="0"/>
          </a:p>
        </p:txBody>
      </p:sp>
      <p:sp>
        <p:nvSpPr>
          <p:cNvPr id="34" name="Text 29"/>
          <p:cNvSpPr/>
          <p:nvPr/>
        </p:nvSpPr>
        <p:spPr>
          <a:xfrm>
            <a:off x="6281928" y="2514600"/>
            <a:ext cx="475488" cy="256032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何を</a:t>
            </a:r>
            <a:endParaRPr lang="en-US" sz="1000" dirty="0"/>
          </a:p>
        </p:txBody>
      </p:sp>
      <p:sp>
        <p:nvSpPr>
          <p:cNvPr id="35" name="Text 30"/>
          <p:cNvSpPr/>
          <p:nvPr/>
        </p:nvSpPr>
        <p:spPr>
          <a:xfrm>
            <a:off x="6812280" y="25146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要件・設計・タスクを構造化し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AIが一貫してコードを実装</a:t>
            </a:r>
            <a:endParaRPr lang="en-US" sz="1050" dirty="0"/>
          </a:p>
        </p:txBody>
      </p:sp>
      <p:sp>
        <p:nvSpPr>
          <p:cNvPr id="36" name="Text 31"/>
          <p:cNvSpPr/>
          <p:nvPr/>
        </p:nvSpPr>
        <p:spPr>
          <a:xfrm>
            <a:off x="6281928" y="3182112"/>
            <a:ext cx="475488" cy="256032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いつ</a:t>
            </a:r>
            <a:endParaRPr lang="en-US" sz="1000" dirty="0"/>
          </a:p>
        </p:txBody>
      </p:sp>
      <p:sp>
        <p:nvSpPr>
          <p:cNvPr id="37" name="Text 32"/>
          <p:cNvSpPr/>
          <p:nvPr/>
        </p:nvSpPr>
        <p:spPr>
          <a:xfrm>
            <a:off x="6812280" y="318211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フィーチャー開発の起点として</a:t>
            </a:r>
            <a:endParaRPr lang="en-US" sz="1050" dirty="0"/>
          </a:p>
        </p:txBody>
      </p:sp>
      <p:sp>
        <p:nvSpPr>
          <p:cNvPr id="38" name="Text 33"/>
          <p:cNvSpPr/>
          <p:nvPr/>
        </p:nvSpPr>
        <p:spPr>
          <a:xfrm>
            <a:off x="6281928" y="3849624"/>
            <a:ext cx="475488" cy="256032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形式</a:t>
            </a:r>
            <a:endParaRPr lang="en-US" sz="1000" dirty="0"/>
          </a:p>
        </p:txBody>
      </p:sp>
      <p:sp>
        <p:nvSpPr>
          <p:cNvPr id="39" name="Text 34"/>
          <p:cNvSpPr/>
          <p:nvPr/>
        </p:nvSpPr>
        <p:spPr>
          <a:xfrm>
            <a:off x="6812280" y="3849624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requirements.md / design.md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tasks.md</a:t>
            </a:r>
            <a:endParaRPr lang="en-US" sz="1050" dirty="0"/>
          </a:p>
        </p:txBody>
      </p:sp>
      <p:sp>
        <p:nvSpPr>
          <p:cNvPr id="40" name="Shape 35"/>
          <p:cNvSpPr/>
          <p:nvPr/>
        </p:nvSpPr>
        <p:spPr>
          <a:xfrm>
            <a:off x="274320" y="4773168"/>
            <a:ext cx="8595360" cy="237744"/>
          </a:xfrm>
          <a:prstGeom prst="rect">
            <a:avLst/>
          </a:prstGeom>
          <a:solidFill>
            <a:srgbClr val="EFF6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1" name="Text 36"/>
          <p:cNvSpPr/>
          <p:nvPr/>
        </p:nvSpPr>
        <p:spPr>
          <a:xfrm>
            <a:off x="320040" y="4773168"/>
            <a:ext cx="8503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3機能は独立して使えるが、組み合わせることで最大効果を発揮 → 後続スライドで詳解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Steering とは — AIへの「永続的な常識」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4320" y="621792"/>
            <a:ext cx="8595360" cy="658368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621792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プロジェクトの規約・方針をMarkdownに書くだけ。毎回説明しなくてもKiroが常に従う。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389888"/>
            <a:ext cx="2011680" cy="2148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1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389888"/>
            <a:ext cx="201168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8" name="Shape 6"/>
          <p:cNvSpPr/>
          <p:nvPr/>
        </p:nvSpPr>
        <p:spPr>
          <a:xfrm>
            <a:off x="274320" y="1389888"/>
            <a:ext cx="2011680" cy="43891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" y="1399032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always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0040" y="162763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常時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" y="1901952"/>
            <a:ext cx="18288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全チャットに自動で含まれる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→ 技術スタック・コーディング規約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450592" y="1389888"/>
            <a:ext cx="2011680" cy="2148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1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450592" y="1389888"/>
            <a:ext cx="2011680" cy="548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1389888"/>
            <a:ext cx="2011680" cy="438912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5" name="Text 13"/>
          <p:cNvSpPr/>
          <p:nvPr/>
        </p:nvSpPr>
        <p:spPr>
          <a:xfrm>
            <a:off x="2496312" y="1399032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fileMatch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496312" y="162763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条件一致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542032" y="1901952"/>
            <a:ext cx="18288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*.tf 編集時のみ terraform-rules.md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→ コンテキストの無駄を省く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26864" y="1389888"/>
            <a:ext cx="2011680" cy="2148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1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26864" y="1389888"/>
            <a:ext cx="201168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0" name="Shape 18"/>
          <p:cNvSpPr/>
          <p:nvPr/>
        </p:nvSpPr>
        <p:spPr>
          <a:xfrm>
            <a:off x="4626864" y="1389888"/>
            <a:ext cx="2011680" cy="43891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1" name="Text 19"/>
          <p:cNvSpPr/>
          <p:nvPr/>
        </p:nvSpPr>
        <p:spPr>
          <a:xfrm>
            <a:off x="4672584" y="1399032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672584" y="162763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AI判断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718304" y="1901952"/>
            <a:ext cx="18288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リクエスト内容からAIが判断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→ API設計変更時だけ api-design.md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803136" y="1389888"/>
            <a:ext cx="2011680" cy="2148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1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803136" y="1389888"/>
            <a:ext cx="201168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6" name="Shape 24"/>
          <p:cNvSpPr/>
          <p:nvPr/>
        </p:nvSpPr>
        <p:spPr>
          <a:xfrm>
            <a:off x="6803136" y="1389888"/>
            <a:ext cx="2011680" cy="43891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7" name="Text 25"/>
          <p:cNvSpPr/>
          <p:nvPr/>
        </p:nvSpPr>
        <p:spPr>
          <a:xfrm>
            <a:off x="6848856" y="1399032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manual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848856" y="162763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手動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894576" y="1901952"/>
            <a:ext cx="18288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#ファイル名 または /コマンドで参照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→ トラブルシューティング等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74320" y="3657600"/>
            <a:ext cx="859536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1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74320" y="3657600"/>
            <a:ext cx="859536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2" name="Text 30"/>
          <p:cNvSpPr/>
          <p:nvPr/>
        </p:nvSpPr>
        <p:spPr>
          <a:xfrm>
            <a:off x="411480" y="374904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何を書く？（CMSチーム例）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11480" y="4041648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tech.md → AWS / Terraform / Pythonスタック定義
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naming.md → Terraformリソース命名規則・タグ付け標準
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security.md → IAMポリシー設計・KMS要件・VPCエンドポイント規約
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aws-policy.md → Well-Architectedフレームワーク準拠方針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74320" y="4773168"/>
            <a:ext cx="8595360" cy="237744"/>
          </a:xfrm>
          <a:prstGeom prst="rect">
            <a:avLst/>
          </a:prstGeom>
          <a:solidFill>
            <a:srgbClr val="EFF6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0040" y="4773168"/>
            <a:ext cx="8503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📂 .kiro/steering/（ワークスペース）  ／  ~/.kiro/steering/（グローバル）  ／  競合時はワークスペース優先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とは — オンデマンド専門知識パッケージ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4320" y="621792"/>
            <a:ext cx="8595360" cy="65836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621792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起動時は名前と説明だけ読み込み（軽量）。リクエストが一致した瞬間に SKILL.md 全文を読み込む。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389888"/>
            <a:ext cx="411480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1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389888"/>
            <a:ext cx="411480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49047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仕組み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" y="1847088"/>
            <a:ext cx="3840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① 起動時：name + description のみ読み込み（軽量）
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② リクエストとdescriptionが一致 → SKILL.md 全文読み込み
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③ references/ 内のファイルは SKILL.md が指示した時のみ読む
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④ /スラッシュコマンド や明示的な呼び出しも可能
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⑤ ワークスペースSkill &gt; グローバルSkillの優先順位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0" y="1389888"/>
            <a:ext cx="429768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1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0" y="1389888"/>
            <a:ext cx="4297680" cy="548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/>
          <p:nvPr/>
        </p:nvSpPr>
        <p:spPr>
          <a:xfrm>
            <a:off x="4709160" y="1490472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SKILL.md の構造例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663440" y="1847088"/>
            <a:ext cx="4114800" cy="18288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4" name="Text 12"/>
          <p:cNvSpPr/>
          <p:nvPr/>
        </p:nvSpPr>
        <p:spPr>
          <a:xfrm>
            <a:off x="4709160" y="1892808"/>
            <a:ext cx="4023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name: code-review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description: コードレビュー時に使用。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Terraformやコードの品質・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セキュリティ・命名を確認する。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レビューチェックリスト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命名規則がnaming.mdに準拠か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IAMポリシーが最小権限か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タグ付けが標準に従っているか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不要なリソースが含まれないか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3886200"/>
            <a:ext cx="41148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1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886200"/>
            <a:ext cx="411480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7" name="Text 15"/>
          <p:cNvSpPr/>
          <p:nvPr/>
        </p:nvSpPr>
        <p:spPr>
          <a:xfrm>
            <a:off x="411480" y="39776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ディレクトリ構成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11480" y="4270248"/>
            <a:ext cx="3749040" cy="5486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4279392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.kiro/skills/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code-review/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SKILL.md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terraform-patterns/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SKILL.md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references/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domain-knowledge/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SKILL.md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references/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design-doc/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SKILL.md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└── references/template.md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572000" y="3886200"/>
            <a:ext cx="429768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1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0" y="3886200"/>
            <a:ext cx="4297680" cy="548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2" name="Text 20"/>
          <p:cNvSpPr/>
          <p:nvPr/>
        </p:nvSpPr>
        <p:spPr>
          <a:xfrm>
            <a:off x="4709160" y="397764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CMSチーム Skills 4種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09160" y="4261104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code-review → レビューチェックリスト（品質・命名・セキュリティ）
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terraform-patterns → コード生成ルール・モジュールパターン
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domain-knowledge → 社内システム仕様・ドメイン固有知識
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design-doc → 社内Excelフォーマット→Markdown設計書生成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4773168"/>
            <a:ext cx="8595360" cy="237744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4773168"/>
            <a:ext cx="8503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open Agent Skills 標準準拠 → GitHub Copilot 等の他ツールと SKILL.md を共有可能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 とは — 仕様駆動開発の「設計図」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4320" y="621792"/>
            <a:ext cx="8595360" cy="65836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621792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プロンプトから直接コードを生成するのではなく、要件 → 設計 → タスクの3段階を踏むことで精度と追跡性を高める。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389888"/>
            <a:ext cx="2743200" cy="2880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1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389888"/>
            <a:ext cx="274320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8" name="Shape 6"/>
          <p:cNvSpPr/>
          <p:nvPr/>
        </p:nvSpPr>
        <p:spPr>
          <a:xfrm>
            <a:off x="274320" y="1389888"/>
            <a:ext cx="2743200" cy="4572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40817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要件定義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16459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requirements.md</a:t>
            </a:r>
            <a:endParaRPr lang="en-US" sz="10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1975104"/>
            <a:ext cx="457200" cy="4572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411480" y="2505456"/>
            <a:ext cx="2468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EARS記法でユーザーストーリーと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受け入れ基準を構造化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「When ～ the system shall ～」形式で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曖昧さをなくす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3035808" y="2715768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3200400" y="1389888"/>
            <a:ext cx="2743200" cy="2880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1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200400" y="1389888"/>
            <a:ext cx="274320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6" name="Shape 13"/>
          <p:cNvSpPr/>
          <p:nvPr/>
        </p:nvSpPr>
        <p:spPr>
          <a:xfrm>
            <a:off x="3200400" y="1389888"/>
            <a:ext cx="2743200" cy="4572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7" name="Text 14"/>
          <p:cNvSpPr/>
          <p:nvPr/>
        </p:nvSpPr>
        <p:spPr>
          <a:xfrm>
            <a:off x="3291840" y="140817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設計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3291840" y="16459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design.md</a:t>
            </a:r>
            <a:endParaRPr lang="en-US" sz="1000" dirty="0"/>
          </a:p>
        </p:txBody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1975104"/>
            <a:ext cx="457200" cy="45720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3337560" y="2505456"/>
            <a:ext cx="2468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技術スタック・アーキテクチャ・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データモデルを決定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Kiroが既存コードを分析して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設計ドキュメントを生成</a:t>
            </a:r>
            <a:endParaRPr lang="en-US" sz="1150" dirty="0"/>
          </a:p>
        </p:txBody>
      </p:sp>
      <p:sp>
        <p:nvSpPr>
          <p:cNvPr id="21" name="Text 17"/>
          <p:cNvSpPr/>
          <p:nvPr/>
        </p:nvSpPr>
        <p:spPr>
          <a:xfrm>
            <a:off x="5961888" y="2715768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22" name="Shape 18"/>
          <p:cNvSpPr/>
          <p:nvPr/>
        </p:nvSpPr>
        <p:spPr>
          <a:xfrm>
            <a:off x="6126480" y="1389888"/>
            <a:ext cx="2743200" cy="2880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1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6126480" y="1389888"/>
            <a:ext cx="27432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4" name="Shape 20"/>
          <p:cNvSpPr/>
          <p:nvPr/>
        </p:nvSpPr>
        <p:spPr>
          <a:xfrm>
            <a:off x="6126480" y="1389888"/>
            <a:ext cx="2743200" cy="4572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5" name="Text 21"/>
          <p:cNvSpPr/>
          <p:nvPr/>
        </p:nvSpPr>
        <p:spPr>
          <a:xfrm>
            <a:off x="6217920" y="140817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タスク一覧</a:t>
            </a:r>
            <a:endParaRPr lang="en-US" sz="1300" dirty="0"/>
          </a:p>
        </p:txBody>
      </p:sp>
      <p:sp>
        <p:nvSpPr>
          <p:cNvPr id="26" name="Text 22"/>
          <p:cNvSpPr/>
          <p:nvPr/>
        </p:nvSpPr>
        <p:spPr>
          <a:xfrm>
            <a:off x="6217920" y="16459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tasks.md</a:t>
            </a:r>
            <a:endParaRPr lang="en-US" sz="1000" dirty="0"/>
          </a:p>
        </p:txBody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1975104"/>
            <a:ext cx="457200" cy="45720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6263640" y="2505456"/>
            <a:ext cx="2468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依存関係に基づいて順序付けされた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実装タスクリスト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各タスクをクリックして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Kiroが自律実行</a:t>
            </a:r>
            <a:endParaRPr lang="en-US" sz="1150" dirty="0"/>
          </a:p>
        </p:txBody>
      </p:sp>
      <p:sp>
        <p:nvSpPr>
          <p:cNvPr id="29" name="Shape 24"/>
          <p:cNvSpPr/>
          <p:nvPr/>
        </p:nvSpPr>
        <p:spPr>
          <a:xfrm>
            <a:off x="274320" y="4389120"/>
            <a:ext cx="411480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1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274320" y="4389120"/>
            <a:ext cx="411480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1" name="Text 26"/>
          <p:cNvSpPr/>
          <p:nvPr/>
        </p:nvSpPr>
        <p:spPr>
          <a:xfrm>
            <a:off x="411480" y="448056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Requirements-First（推奨）</a:t>
            </a:r>
            <a:endParaRPr lang="en-US" sz="1200" dirty="0"/>
          </a:p>
        </p:txBody>
      </p:sp>
      <p:sp>
        <p:nvSpPr>
          <p:cNvPr id="32" name="Text 27"/>
          <p:cNvSpPr/>
          <p:nvPr/>
        </p:nvSpPr>
        <p:spPr>
          <a:xfrm>
            <a:off x="411480" y="472744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要件 → 設計 → タスク の順で丁寧に進む。新機能・複雑な実装に最適。</a:t>
            </a:r>
            <a:endParaRPr lang="en-US" sz="1100" dirty="0"/>
          </a:p>
        </p:txBody>
      </p:sp>
      <p:sp>
        <p:nvSpPr>
          <p:cNvPr id="33" name="Shape 28"/>
          <p:cNvSpPr/>
          <p:nvPr/>
        </p:nvSpPr>
        <p:spPr>
          <a:xfrm>
            <a:off x="4572000" y="4389120"/>
            <a:ext cx="429768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1000"/>
              </a:srgbClr>
            </a:outerShdw>
          </a:effectLst>
        </p:spPr>
      </p:sp>
      <p:sp>
        <p:nvSpPr>
          <p:cNvPr id="34" name="Shape 29"/>
          <p:cNvSpPr/>
          <p:nvPr/>
        </p:nvSpPr>
        <p:spPr>
          <a:xfrm>
            <a:off x="4572000" y="4389120"/>
            <a:ext cx="429768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5" name="Text 30"/>
          <p:cNvSpPr/>
          <p:nvPr/>
        </p:nvSpPr>
        <p:spPr>
          <a:xfrm>
            <a:off x="4709160" y="448056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Design-First</a:t>
            </a:r>
            <a:endParaRPr lang="en-US" sz="1200" dirty="0"/>
          </a:p>
        </p:txBody>
      </p:sp>
      <p:sp>
        <p:nvSpPr>
          <p:cNvPr id="36" name="Text 31"/>
          <p:cNvSpPr/>
          <p:nvPr/>
        </p:nvSpPr>
        <p:spPr>
          <a:xfrm>
            <a:off x="4709160" y="472744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設計から始めて要件を後付け。技術的なリファクタリングや改修に向く。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Steering / Skills / Spec — 比較表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4320" y="594360"/>
            <a:ext cx="2286000" cy="4114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5943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観点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606040" y="594360"/>
            <a:ext cx="2560320" cy="4114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2606040" y="5943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Steering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212080" y="594360"/>
            <a:ext cx="1920240" cy="4114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9" name="Text 7"/>
          <p:cNvSpPr/>
          <p:nvPr/>
        </p:nvSpPr>
        <p:spPr>
          <a:xfrm>
            <a:off x="5212080" y="5943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178040" y="594360"/>
            <a:ext cx="1737360" cy="4114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7178040" y="5943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4320" y="1051560"/>
            <a:ext cx="22860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051560"/>
            <a:ext cx="2148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目的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606040" y="1051560"/>
            <a:ext cx="25603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97480" y="1051560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AIの行動規範を定義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212080" y="1051560"/>
            <a:ext cx="19202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0" y="1051560"/>
            <a:ext cx="1783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専門手順を必要時に提供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178040" y="1051560"/>
            <a:ext cx="17373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269480" y="1051560"/>
            <a:ext cx="1600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機能実装の設計図作成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74320" y="1581912"/>
            <a:ext cx="2286000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1581912"/>
            <a:ext cx="2148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読み込み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606040" y="1581912"/>
            <a:ext cx="2560320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697480" y="1581912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設定モードで常時 or 自動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212080" y="1581912"/>
            <a:ext cx="1920240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03520" y="1581912"/>
            <a:ext cx="1783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リクエスト一致時のみ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178040" y="1581912"/>
            <a:ext cx="1737360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269480" y="1581912"/>
            <a:ext cx="1600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明示的に作成・参照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74320" y="2112264"/>
            <a:ext cx="22860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2112264"/>
            <a:ext cx="2148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記述場所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606040" y="2112264"/>
            <a:ext cx="25603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697480" y="2112264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.kiro/steering/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~/.kiro/steering/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212080" y="2112264"/>
            <a:ext cx="19202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303520" y="2112264"/>
            <a:ext cx="1783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.kiro/skills/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~/.kiro/skills/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7178040" y="2112264"/>
            <a:ext cx="17373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269480" y="2112264"/>
            <a:ext cx="1600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.kiro/specs/&lt;feature&gt;/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274320" y="2642616"/>
            <a:ext cx="2286000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2642616"/>
            <a:ext cx="2148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ファイル形式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2606040" y="2642616"/>
            <a:ext cx="2560320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697480" y="2642616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任意の .md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(front matter任意)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5212080" y="2642616"/>
            <a:ext cx="1920240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303520" y="2642616"/>
            <a:ext cx="1783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SKILL.md + references/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7178040" y="2642616"/>
            <a:ext cx="1737360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269480" y="2642616"/>
            <a:ext cx="1600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requirements.md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design.md / tasks.md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274320" y="3172968"/>
            <a:ext cx="22860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5760" y="3172968"/>
            <a:ext cx="2148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作成タイミング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2606040" y="3172968"/>
            <a:ext cx="25603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697480" y="3172968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プロジェクト開始時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（以後随時更新）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5212080" y="3172968"/>
            <a:ext cx="19202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303520" y="3172968"/>
            <a:ext cx="1783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ワークフロー確立時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（再利用前提）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7178040" y="3172968"/>
            <a:ext cx="17373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269480" y="3172968"/>
            <a:ext cx="1600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新機能・バグ修正の都度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274320" y="3703320"/>
            <a:ext cx="2286000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65760" y="3703320"/>
            <a:ext cx="2148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他ツール互換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2606040" y="3703320"/>
            <a:ext cx="2560320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697480" y="3703320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Kiro専用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(AGENTS.mdは互換あり)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5212080" y="3703320"/>
            <a:ext cx="1920240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303520" y="3703320"/>
            <a:ext cx="1783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open Agent Skills標準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Copilot等と共有可能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7178040" y="3703320"/>
            <a:ext cx="1737360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269480" y="3703320"/>
            <a:ext cx="1600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Kiro専用形式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274320" y="4233672"/>
            <a:ext cx="22860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65760" y="4233672"/>
            <a:ext cx="2148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コンテキスト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2606040" y="4233672"/>
            <a:ext cx="25603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697480" y="4233672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常時消費（always時）</a:t>
            </a:r>
            <a:endParaRPr lang="en-US" sz="1050" dirty="0"/>
          </a:p>
        </p:txBody>
      </p:sp>
      <p:sp>
        <p:nvSpPr>
          <p:cNvPr id="64" name="Shape 62"/>
          <p:cNvSpPr/>
          <p:nvPr/>
        </p:nvSpPr>
        <p:spPr>
          <a:xfrm>
            <a:off x="5212080" y="4233672"/>
            <a:ext cx="19202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303520" y="4233672"/>
            <a:ext cx="1783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必要時のみ→節約効果大</a:t>
            </a:r>
            <a:endParaRPr lang="en-US" sz="1050" dirty="0"/>
          </a:p>
        </p:txBody>
      </p:sp>
      <p:sp>
        <p:nvSpPr>
          <p:cNvPr id="66" name="Shape 64"/>
          <p:cNvSpPr/>
          <p:nvPr/>
        </p:nvSpPr>
        <p:spPr>
          <a:xfrm>
            <a:off x="7178040" y="4233672"/>
            <a:ext cx="17373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269480" y="4233672"/>
            <a:ext cx="1600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作業中のみ参照</a:t>
            </a:r>
            <a:endParaRPr lang="en-US" sz="1050" dirty="0"/>
          </a:p>
        </p:txBody>
      </p:sp>
      <p:sp>
        <p:nvSpPr>
          <p:cNvPr id="68" name="Shape 66"/>
          <p:cNvSpPr/>
          <p:nvPr/>
        </p:nvSpPr>
        <p:spPr>
          <a:xfrm>
            <a:off x="274320" y="4800600"/>
            <a:ext cx="8595360" cy="237744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65760" y="4800600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2400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⚡ 使い分けの原則：Steering=常識（常時）／ Skills=手順（オンデマンド）／ Spec=設計図（機能開発の都度）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個別使用 vs 組み合わせ使用 — 分析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4320" y="640080"/>
            <a:ext cx="2743200" cy="2331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1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640080"/>
            <a:ext cx="274320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640080"/>
            <a:ext cx="2743200" cy="38404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65836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Steeringのみ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07899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メリット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1316736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既存プロジェクトに最小コストで導入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11480" y="162763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コーディング規約を即座に統一可能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11480" y="1975104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限界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221284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手順ミスは防げない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11480" y="252374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機能実装の品質保証なし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00400" y="640080"/>
            <a:ext cx="2743200" cy="2331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1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0" y="640080"/>
            <a:ext cx="274320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6" name="Shape 14"/>
          <p:cNvSpPr/>
          <p:nvPr/>
        </p:nvSpPr>
        <p:spPr>
          <a:xfrm>
            <a:off x="3200400" y="640080"/>
            <a:ext cx="2743200" cy="38404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7" name="Text 15"/>
          <p:cNvSpPr/>
          <p:nvPr/>
        </p:nvSpPr>
        <p:spPr>
          <a:xfrm>
            <a:off x="3291840" y="65836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Skillsのみ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337560" y="107899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メリット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37560" y="1316736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デプロイ等の反復作業を自動化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337560" y="162763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チーム間でスキルを共有・再利用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337560" y="1975104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限界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337560" y="221284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毎回同じ規約を説明する手間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337560" y="252374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生成コードの一貫性が低い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126480" y="640080"/>
            <a:ext cx="2743200" cy="2331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1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26480" y="640080"/>
            <a:ext cx="27432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6" name="Shape 24"/>
          <p:cNvSpPr/>
          <p:nvPr/>
        </p:nvSpPr>
        <p:spPr>
          <a:xfrm>
            <a:off x="6126480" y="640080"/>
            <a:ext cx="2743200" cy="38404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7" name="Text 25"/>
          <p:cNvSpPr/>
          <p:nvPr/>
        </p:nvSpPr>
        <p:spPr>
          <a:xfrm>
            <a:off x="6217920" y="65836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Specのみ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263640" y="107899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メリット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263640" y="1316736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複雑な機能を構造的に実装可能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263640" y="162763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設計意図がドキュメント化される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263640" y="1975104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限界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263640" y="221284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Steeringなし→規約外コードを生成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263640" y="252374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デプロイ手順はSkillsがないと曖昧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274320" y="3108960"/>
            <a:ext cx="8595360" cy="347472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5" name="Text 33"/>
          <p:cNvSpPr/>
          <p:nvPr/>
        </p:nvSpPr>
        <p:spPr>
          <a:xfrm>
            <a:off x="365760" y="310896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組み合わせ使用（推奨）：Steering ＋ Skills ＋ Spec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274320" y="3520440"/>
            <a:ext cx="274320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1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274320" y="3520440"/>
            <a:ext cx="274320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8" name="Text 36"/>
          <p:cNvSpPr/>
          <p:nvPr/>
        </p:nvSpPr>
        <p:spPr>
          <a:xfrm>
            <a:off x="411480" y="363016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Steering + Spec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11480" y="3968496"/>
            <a:ext cx="246888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Spec の要件・設計を Steering の規約通りに実装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→ 「何を作るか」と「どう書くか」が連動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3200400" y="3520440"/>
            <a:ext cx="274320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1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3200400" y="3520440"/>
            <a:ext cx="274320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2" name="Text 40"/>
          <p:cNvSpPr/>
          <p:nvPr/>
        </p:nvSpPr>
        <p:spPr>
          <a:xfrm>
            <a:off x="3337560" y="363016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Steering + Skills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3337560" y="3968496"/>
            <a:ext cx="246888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デプロイ手順(Skill)もチームの標準(Steering)に沿って実行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→ 属人化防止・新人でも安全に運用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6126480" y="3520440"/>
            <a:ext cx="274320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1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126480" y="3520440"/>
            <a:ext cx="27432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6" name="Text 44"/>
          <p:cNvSpPr/>
          <p:nvPr/>
        </p:nvSpPr>
        <p:spPr>
          <a:xfrm>
            <a:off x="6263640" y="363016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全部組み合わせ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6263640" y="3968496"/>
            <a:ext cx="246888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設計(Spec)→実装規約(Steering)→デプロイ手順(Skills)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→ 開発ライフサイクル全体をAIがサポート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ディレクトリ構成 — Azure DevOps ＋ ローカル WorkSpace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4320" y="594360"/>
            <a:ext cx="2651760" cy="347472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59436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固定（EngCommonで管理）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108960" y="594360"/>
            <a:ext cx="2651760" cy="347472"/>
          </a:xfrm>
          <a:prstGeom prst="rect">
            <a:avLst/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0" y="59436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案件毎（各自ローカル管理）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943600" y="594360"/>
            <a:ext cx="2926080" cy="347472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035040" y="5943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Git管理方針：検討中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4320" y="1024128"/>
            <a:ext cx="3931920" cy="3950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1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1024128"/>
            <a:ext cx="393192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2" name="Shape 10"/>
          <p:cNvSpPr/>
          <p:nvPr/>
        </p:nvSpPr>
        <p:spPr>
          <a:xfrm>
            <a:off x="274320" y="1024128"/>
            <a:ext cx="3931920" cy="34747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" y="102412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DevOps（チーム共有・Git管理）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11480" y="1417320"/>
            <a:ext cx="3657600" cy="345643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1463040"/>
            <a:ext cx="35661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EngCommon/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.kiro/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steering/       ← 🔒 チーム共通規約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├── tech.md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├── naming.md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└── security.md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skills/         ← 🔒 共通スキル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├── code-review/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├── terraform-patterns/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├── domain-knowledge/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└── design-doc/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AWS-repo/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GCP-repo/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Azure-repo/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389120" y="1024128"/>
            <a:ext cx="4480560" cy="3950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1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389120" y="1024128"/>
            <a:ext cx="448056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8" name="Shape 16"/>
          <p:cNvSpPr/>
          <p:nvPr/>
        </p:nvSpPr>
        <p:spPr>
          <a:xfrm>
            <a:off x="4389120" y="1024128"/>
            <a:ext cx="4480560" cy="34747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9" name="Text 17"/>
          <p:cNvSpPr/>
          <p:nvPr/>
        </p:nvSpPr>
        <p:spPr>
          <a:xfrm>
            <a:off x="4480560" y="1024128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ローカル WorkSpace（各自PC・Git管理なし）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26280" y="1417320"/>
            <a:ext cx="4206240" cy="345643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0" y="1463040"/>
            <a:ext cx="41148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workspace/               ← Kiro WorkSpace ルート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.kiro/               ← ⚠️ Git管理方針検討中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steering/        ← EngCommonからPull・配置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skills/          ← EngCommonからPull・配置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specs/           ← 📝 ローカルのみ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├── aws-pj-xxx/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│   ├── requirements.md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│   ├── design.md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│   └── tasks.md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└── gcp-pj-yyy/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EngCommon/           ← Pull（参照用）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AWS-repo/            ← Pull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pj-xxx/         ← 📝 コード生成先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GCP-repo/            ← Pull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pj-yyy/         ← 📝 コード生成先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Azure-repo/          ← Pull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pj-zzz/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local-sandbox/       ← 📝 検証・試験用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└── test-work/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041648" y="233172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チーム展開フロー — 初期構築 ＆ 案件発生時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4320" y="594360"/>
            <a:ext cx="8595360" cy="27432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5943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1：初期構築（一度だけ・チームリードが担当）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86384" y="941832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9418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47472" y="1572768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EngCommon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整備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47472" y="1956816"/>
            <a:ext cx="15727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steering/ skills/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をEngCommonに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Push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938528" y="1078992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2505456" y="941832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2505456" y="9418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066544" y="1572768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各自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066544" y="1956816"/>
            <a:ext cx="15727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EngCommonを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Pullして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local.kiro/に配置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657600" y="1078992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224528" y="941832"/>
            <a:ext cx="566928" cy="566928"/>
          </a:xfrm>
          <a:prstGeom prst="ellipse">
            <a:avLst/>
          </a:prstGeom>
          <a:solidFill>
            <a:srgbClr val="0A2342"/>
          </a:solidFill>
          <a:ln/>
        </p:spPr>
      </p:sp>
      <p:sp>
        <p:nvSpPr>
          <p:cNvPr id="17" name="Text 15"/>
          <p:cNvSpPr/>
          <p:nvPr/>
        </p:nvSpPr>
        <p:spPr>
          <a:xfrm>
            <a:off x="4224528" y="9418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785616" y="1572768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作成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785616" y="1956816"/>
            <a:ext cx="15727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ローカルに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workspace/を作成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各リポをPull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376672" y="1078992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943600" y="941832"/>
            <a:ext cx="566928" cy="56692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0" y="9418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504688" y="1572768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steering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確認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504688" y="1956816"/>
            <a:ext cx="15727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Kiro起動して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Steering・Skills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が読み込まれるか確認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7095744" y="1078992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7662672" y="941832"/>
            <a:ext cx="566928" cy="56692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7" name="Text 25"/>
          <p:cNvSpPr/>
          <p:nvPr/>
        </p:nvSpPr>
        <p:spPr>
          <a:xfrm>
            <a:off x="7662672" y="9418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7223760" y="1572768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チーム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展開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223760" y="1956816"/>
            <a:ext cx="15727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手順をドキュメント化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全メンバーに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展開・共有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74320" y="2633472"/>
            <a:ext cx="8595360" cy="2743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1" name="Text 29"/>
          <p:cNvSpPr/>
          <p:nvPr/>
        </p:nvSpPr>
        <p:spPr>
          <a:xfrm>
            <a:off x="365760" y="263347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2：案件発生時（繰り返し・各メンバーが担当）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86384" y="2980944"/>
            <a:ext cx="566928" cy="566928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33" name="Text 31"/>
          <p:cNvSpPr/>
          <p:nvPr/>
        </p:nvSpPr>
        <p:spPr>
          <a:xfrm>
            <a:off x="786384" y="298094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347472" y="3611880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PJフォルダ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作成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47472" y="3995928"/>
            <a:ext cx="15727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AWS-repo/pj-xxx/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を新規作成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（案件リポ配下）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1938528" y="3118104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2505456" y="2980944"/>
            <a:ext cx="566928" cy="56692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8" name="Text 36"/>
          <p:cNvSpPr/>
          <p:nvPr/>
        </p:nvSpPr>
        <p:spPr>
          <a:xfrm>
            <a:off x="2505456" y="298094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2066544" y="3611880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作成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2066544" y="3995928"/>
            <a:ext cx="15727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.kiro/specs/に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req→design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→tasks生成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3657600" y="3118104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42" name="Shape 40"/>
          <p:cNvSpPr/>
          <p:nvPr/>
        </p:nvSpPr>
        <p:spPr>
          <a:xfrm>
            <a:off x="4224528" y="2980944"/>
            <a:ext cx="566928" cy="56692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43" name="Text 41"/>
          <p:cNvSpPr/>
          <p:nvPr/>
        </p:nvSpPr>
        <p:spPr>
          <a:xfrm>
            <a:off x="4224528" y="298094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3785616" y="3611880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コード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3785616" y="3995928"/>
            <a:ext cx="15727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tasks.mdから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1タスクずつ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PJフォルダに出力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5376672" y="3118104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47" name="Shape 45"/>
          <p:cNvSpPr/>
          <p:nvPr/>
        </p:nvSpPr>
        <p:spPr>
          <a:xfrm>
            <a:off x="5943600" y="2980944"/>
            <a:ext cx="566928" cy="56692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48" name="Text 46"/>
          <p:cNvSpPr/>
          <p:nvPr/>
        </p:nvSpPr>
        <p:spPr>
          <a:xfrm>
            <a:off x="5943600" y="298094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500" dirty="0"/>
          </a:p>
        </p:txBody>
      </p:sp>
      <p:sp>
        <p:nvSpPr>
          <p:cNvPr id="49" name="Text 47"/>
          <p:cNvSpPr/>
          <p:nvPr/>
        </p:nvSpPr>
        <p:spPr>
          <a:xfrm>
            <a:off x="5504688" y="3611880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活用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5504688" y="3995928"/>
            <a:ext cx="15727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レビュー・設計書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生成等Skillが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自動起動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7095744" y="3118104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52" name="Shape 50"/>
          <p:cNvSpPr/>
          <p:nvPr/>
        </p:nvSpPr>
        <p:spPr>
          <a:xfrm>
            <a:off x="7662672" y="2980944"/>
            <a:ext cx="566928" cy="566928"/>
          </a:xfrm>
          <a:prstGeom prst="ellipse">
            <a:avLst/>
          </a:prstGeom>
          <a:solidFill>
            <a:srgbClr val="0A2342"/>
          </a:solidFill>
          <a:ln/>
        </p:spPr>
      </p:sp>
      <p:sp>
        <p:nvSpPr>
          <p:cNvPr id="53" name="Text 51"/>
          <p:cNvSpPr/>
          <p:nvPr/>
        </p:nvSpPr>
        <p:spPr>
          <a:xfrm>
            <a:off x="7662672" y="298094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500" dirty="0"/>
          </a:p>
        </p:txBody>
      </p:sp>
      <p:sp>
        <p:nvSpPr>
          <p:cNvPr id="54" name="Text 52"/>
          <p:cNvSpPr/>
          <p:nvPr/>
        </p:nvSpPr>
        <p:spPr>
          <a:xfrm>
            <a:off x="7223760" y="3611880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コミット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＆完了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7223760" y="3995928"/>
            <a:ext cx="15727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生成コードを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各リポに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コミット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274320" y="4663440"/>
            <a:ext cx="8595360" cy="347472"/>
          </a:xfrm>
          <a:prstGeom prst="rect">
            <a:avLst/>
          </a:prstGeom>
          <a:solidFill>
            <a:srgbClr val="F1F5F9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65760" y="466344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案件でない検証・試験は local-sandbox/ にフォルダ作成 → 気軽に試せる（リポに影響なし）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検討事項 — 現時点で未決・今後判断が必要な項目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4320" y="658368"/>
            <a:ext cx="859536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1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658368"/>
            <a:ext cx="859536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658368"/>
            <a:ext cx="8595360" cy="34747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658368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 .kiro/ のGit管理方針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046720" y="722376"/>
            <a:ext cx="731520" cy="219456"/>
          </a:xfrm>
          <a:prstGeom prst="roundRect">
            <a:avLst>
              <a:gd name="adj" fmla="val 16667"/>
            </a:avLst>
          </a:prstGeom>
          <a:solidFill>
            <a:srgbClr val="FEF3C7"/>
          </a:solidFill>
          <a:ln/>
        </p:spPr>
      </p:sp>
      <p:sp>
        <p:nvSpPr>
          <p:cNvPr id="9" name="Text 7"/>
          <p:cNvSpPr/>
          <p:nvPr/>
        </p:nvSpPr>
        <p:spPr>
          <a:xfrm>
            <a:off x="8046720" y="722376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検討中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11480" y="105156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steering/ と skills/ はEngCommonで管理する方針だが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.kiro/ フォルダ全体（specs含む）をGitに入れるかは未決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474720" y="105156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案A：steering/skills/のみEngCommon管理、specs/はローカル（現有力）
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案B：.kiro/全体をEngCommonで管理（specs/も共有したい場合）
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案C：各リポ配下にspecs/を置いてコードと一体管理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4320" y="2093976"/>
            <a:ext cx="859536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1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093976"/>
            <a:ext cx="859536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4" name="Shape 12"/>
          <p:cNvSpPr/>
          <p:nvPr/>
        </p:nvSpPr>
        <p:spPr>
          <a:xfrm>
            <a:off x="274320" y="2093976"/>
            <a:ext cx="8595360" cy="34747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5" name="Text 13"/>
          <p:cNvSpPr/>
          <p:nvPr/>
        </p:nvSpPr>
        <p:spPr>
          <a:xfrm>
            <a:off x="411480" y="2093976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 WorkSpace構成の標準化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046720" y="2157984"/>
            <a:ext cx="731520" cy="219456"/>
          </a:xfrm>
          <a:prstGeom prst="roundRect">
            <a:avLst>
              <a:gd name="adj" fmla="val 16667"/>
            </a:avLst>
          </a:prstGeom>
          <a:solidFill>
            <a:srgbClr val="FEF3C7"/>
          </a:solidFill>
          <a:ln/>
        </p:spPr>
      </p:sp>
      <p:sp>
        <p:nvSpPr>
          <p:cNvPr id="17" name="Text 15"/>
          <p:cNvSpPr/>
          <p:nvPr/>
        </p:nvSpPr>
        <p:spPr>
          <a:xfrm>
            <a:off x="8046720" y="2157984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検討中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11480" y="2487168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各メンバーがローカルにworkspace/を作る手順を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どう標準化・ドキュメント化するか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474720" y="2487168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セットアップ手順書をEngCommonに格納
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steering/にworkspace構成ルールを明記
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初回セットアップスクリプトを用意（git clone + フォルダ作成）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74320" y="3529584"/>
            <a:ext cx="859536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1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3529584"/>
            <a:ext cx="859536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2" name="Shape 20"/>
          <p:cNvSpPr/>
          <p:nvPr/>
        </p:nvSpPr>
        <p:spPr>
          <a:xfrm>
            <a:off x="274320" y="3529584"/>
            <a:ext cx="8595360" cy="34747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3" name="Text 21"/>
          <p:cNvSpPr/>
          <p:nvPr/>
        </p:nvSpPr>
        <p:spPr>
          <a:xfrm>
            <a:off x="411480" y="3529584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 steering/ skills/ の更新フロー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046720" y="3593592"/>
            <a:ext cx="731520" cy="219456"/>
          </a:xfrm>
          <a:prstGeom prst="roundRect">
            <a:avLst>
              <a:gd name="adj" fmla="val 16667"/>
            </a:avLst>
          </a:prstGeom>
          <a:solidFill>
            <a:srgbClr val="FEF3C7"/>
          </a:solidFill>
          <a:ln/>
        </p:spPr>
      </p:sp>
      <p:sp>
        <p:nvSpPr>
          <p:cNvPr id="25" name="Text 23"/>
          <p:cNvSpPr/>
          <p:nvPr/>
        </p:nvSpPr>
        <p:spPr>
          <a:xfrm>
            <a:off x="8046720" y="3593592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要設計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11480" y="3922776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EngCommonで更新があった際、各メンバーが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ローカルの.kiro/に反映する手順が必要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474720" y="3922776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定期的にEngCommonをPullして手動コピー
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シンボリックリンクでEngCommon/.kiro/を参照（要検証）
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Kiroの~/.kiro/steering/（グローバル）にリンクする方法を調査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071A30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0" y="0"/>
            <a:ext cx="54864" cy="51435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5" name="Shape 3"/>
          <p:cNvSpPr/>
          <p:nvPr/>
        </p:nvSpPr>
        <p:spPr>
          <a:xfrm>
            <a:off x="7178040" y="365760"/>
            <a:ext cx="73152" cy="73152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589520" y="365760"/>
            <a:ext cx="73152" cy="73152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8001000" y="365760"/>
            <a:ext cx="73152" cy="73152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8412480" y="365760"/>
            <a:ext cx="73152" cy="73152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178040" y="868680"/>
            <a:ext cx="73152" cy="73152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7589520" y="868680"/>
            <a:ext cx="73152" cy="73152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8001000" y="868680"/>
            <a:ext cx="73152" cy="73152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8412480" y="868680"/>
            <a:ext cx="73152" cy="73152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7178040" y="1371600"/>
            <a:ext cx="73152" cy="73152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7589520" y="1371600"/>
            <a:ext cx="73152" cy="73152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8001000" y="1371600"/>
            <a:ext cx="73152" cy="73152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8412480" y="1371600"/>
            <a:ext cx="73152" cy="73152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7178040" y="1874520"/>
            <a:ext cx="73152" cy="73152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7589520" y="1874520"/>
            <a:ext cx="73152" cy="73152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8001000" y="1874520"/>
            <a:ext cx="73152" cy="73152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8412480" y="1874520"/>
            <a:ext cx="73152" cy="73152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7178040" y="2377440"/>
            <a:ext cx="73152" cy="73152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7589520" y="2377440"/>
            <a:ext cx="73152" cy="73152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8001000" y="2377440"/>
            <a:ext cx="73152" cy="73152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8412480" y="2377440"/>
            <a:ext cx="73152" cy="73152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365760" y="274320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まとめ</a:t>
            </a:r>
            <a:endParaRPr lang="en-US" sz="2800" dirty="0"/>
          </a:p>
        </p:txBody>
      </p:sp>
      <p:sp>
        <p:nvSpPr>
          <p:cNvPr id="26" name="Shape 24"/>
          <p:cNvSpPr/>
          <p:nvPr/>
        </p:nvSpPr>
        <p:spPr>
          <a:xfrm>
            <a:off x="365760" y="804672"/>
            <a:ext cx="3657600" cy="3657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7" name="Shape 25"/>
          <p:cNvSpPr/>
          <p:nvPr/>
        </p:nvSpPr>
        <p:spPr>
          <a:xfrm>
            <a:off x="365760" y="960120"/>
            <a:ext cx="73152" cy="4572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8" name="Text 26"/>
          <p:cNvSpPr/>
          <p:nvPr/>
        </p:nvSpPr>
        <p:spPr>
          <a:xfrm>
            <a:off x="530352" y="9601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Steering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30352" y="1179576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AIへの常識インプット。規約・スタック・セキュリティをMarkdownで定義し常時記憶させる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65760" y="1563624"/>
            <a:ext cx="73152" cy="4572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1" name="Text 29"/>
          <p:cNvSpPr/>
          <p:nvPr/>
        </p:nvSpPr>
        <p:spPr>
          <a:xfrm>
            <a:off x="530352" y="1563624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30352" y="1783080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オンデマンド専門知識。コードレビュー・Terraformパターン・ドメイン知識・設計書生成をSKILL.mdに集約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65760" y="2167128"/>
            <a:ext cx="73152" cy="4572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4" name="Text 32"/>
          <p:cNvSpPr/>
          <p:nvPr/>
        </p:nvSpPr>
        <p:spPr>
          <a:xfrm>
            <a:off x="530352" y="216712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30352" y="2386584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設計図。要件→設計→タスクの3段階で複雑な機能を精度高く実装。設計意図も保存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365760" y="2770632"/>
            <a:ext cx="73152" cy="4572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7" name="Text 35"/>
          <p:cNvSpPr/>
          <p:nvPr/>
        </p:nvSpPr>
        <p:spPr>
          <a:xfrm>
            <a:off x="530352" y="277063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組み合わせ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30352" y="2990088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Steering（常識）＋ Spec（設計）＋ Skills（手順）= 開発ライフサイクル全体をカバー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365760" y="3520440"/>
            <a:ext cx="3657600" cy="3657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0" name="Text 38"/>
          <p:cNvSpPr/>
          <p:nvPr/>
        </p:nvSpPr>
        <p:spPr>
          <a:xfrm>
            <a:off x="365760" y="361188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次のステップ</a:t>
            </a:r>
            <a:endParaRPr lang="en-US" sz="1700" dirty="0"/>
          </a:p>
        </p:txBody>
      </p:sp>
      <p:sp>
        <p:nvSpPr>
          <p:cNvPr id="41" name="Text 39"/>
          <p:cNvSpPr/>
          <p:nvPr/>
        </p:nvSpPr>
        <p:spPr>
          <a:xfrm>
            <a:off x="365760" y="4005072"/>
            <a:ext cx="6217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① Anthropicモデル審査結果を確認（申請中）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② 承認後：EngCommonにsteering/ skills/ 試作（tech.md / naming.md / security.md / code-review等）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③ 各自ローカルWorkSpace構築手順を整備・ドキュメント化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④ .kiro/ Git管理方針・specs/置き場を決定（検討事項①②③を解決）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⑤ 小さな案件でSpec試験運用 → チームへPoC共有・本格導入可否判断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2026-03-25T03:13:54Z</dcterms:created>
  <dcterms:modified xsi:type="dcterms:W3CDTF">2026-03-25T03:13:54Z</dcterms:modified>
</cp:coreProperties>
</file>